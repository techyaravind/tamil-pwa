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320040"/>
            <a:ext cx="292608" cy="91440"/>
          </a:xfrm>
          <a:prstGeom prst="diamond">
            <a:avLst/>
          </a:prstGeom>
          <a:solidFill>
            <a:srgbClr val="D4AF37">
              <a:alpha val="80000"/>
            </a:srgbClr>
          </a:solidFill>
          <a:ln/>
        </p:spPr>
      </p:sp>
      <p:sp>
        <p:nvSpPr>
          <p:cNvPr id="6" name="Shape 4"/>
          <p:cNvSpPr/>
          <p:nvPr/>
        </p:nvSpPr>
        <p:spPr>
          <a:xfrm rot="8100000">
            <a:off x="11420856" y="466344"/>
            <a:ext cx="219456" cy="68580"/>
          </a:xfrm>
          <a:prstGeom prst="diamond">
            <a:avLst/>
          </a:prstGeom>
          <a:solidFill>
            <a:srgbClr val="D4AF37">
              <a:alpha val="80000"/>
            </a:srgbClr>
          </a:solidFill>
          <a:ln/>
        </p:spPr>
      </p:sp>
      <p:sp>
        <p:nvSpPr>
          <p:cNvPr id="7" name="Shape 5"/>
          <p:cNvSpPr/>
          <p:nvPr/>
        </p:nvSpPr>
        <p:spPr>
          <a:xfrm rot="8100000">
            <a:off x="11320272" y="630936"/>
            <a:ext cx="155448" cy="50292"/>
          </a:xfrm>
          <a:prstGeom prst="diamond">
            <a:avLst/>
          </a:prstGeom>
          <a:solidFill>
            <a:srgbClr val="D4AF37">
              <a:alpha val="80000"/>
            </a:srgbClr>
          </a:solidFill>
          <a:ln/>
        </p:spPr>
      </p:sp>
      <p:sp>
        <p:nvSpPr>
          <p:cNvPr id="8" name="Shape 6"/>
          <p:cNvSpPr/>
          <p:nvPr/>
        </p:nvSpPr>
        <p:spPr>
          <a:xfrm rot="-2700000">
            <a:off x="320040" y="6446520"/>
            <a:ext cx="292608" cy="91440"/>
          </a:xfrm>
          <a:prstGeom prst="diamond">
            <a:avLst/>
          </a:prstGeom>
          <a:solidFill>
            <a:srgbClr val="D4AF37">
              <a:alpha val="80000"/>
            </a:srgbClr>
          </a:solidFill>
          <a:ln/>
        </p:spPr>
      </p:sp>
      <p:sp>
        <p:nvSpPr>
          <p:cNvPr id="9" name="Shape 7"/>
          <p:cNvSpPr/>
          <p:nvPr/>
        </p:nvSpPr>
        <p:spPr>
          <a:xfrm rot="-2700000">
            <a:off x="521208" y="6323076"/>
            <a:ext cx="219456" cy="68580"/>
          </a:xfrm>
          <a:prstGeom prst="diamond">
            <a:avLst/>
          </a:prstGeom>
          <a:solidFill>
            <a:srgbClr val="D4AF37">
              <a:alpha val="80000"/>
            </a:srgbClr>
          </a:solidFill>
          <a:ln/>
        </p:spPr>
      </p:sp>
      <p:sp>
        <p:nvSpPr>
          <p:cNvPr id="10" name="Shape 8"/>
          <p:cNvSpPr/>
          <p:nvPr/>
        </p:nvSpPr>
        <p:spPr>
          <a:xfrm rot="-2700000">
            <a:off x="685800" y="6176772"/>
            <a:ext cx="155448" cy="50292"/>
          </a:xfrm>
          <a:prstGeom prst="diamond">
            <a:avLst/>
          </a:prstGeom>
          <a:solidFill>
            <a:srgbClr val="D4AF37">
              <a:alpha val="80000"/>
            </a:srgbClr>
          </a:solidFill>
          <a:ln/>
        </p:spPr>
      </p:sp>
      <p:sp>
        <p:nvSpPr>
          <p:cNvPr id="11" name="Shape 9"/>
          <p:cNvSpPr/>
          <p:nvPr/>
        </p:nvSpPr>
        <p:spPr>
          <a:xfrm rot="-8100000">
            <a:off x="11548872" y="6446520"/>
            <a:ext cx="292608" cy="91440"/>
          </a:xfrm>
          <a:prstGeom prst="diamond">
            <a:avLst/>
          </a:prstGeom>
          <a:solidFill>
            <a:srgbClr val="D4AF37">
              <a:alpha val="80000"/>
            </a:srgbClr>
          </a:solidFill>
          <a:ln/>
        </p:spPr>
      </p:sp>
      <p:sp>
        <p:nvSpPr>
          <p:cNvPr id="12" name="Shape 10"/>
          <p:cNvSpPr/>
          <p:nvPr/>
        </p:nvSpPr>
        <p:spPr>
          <a:xfrm rot="-8100000">
            <a:off x="11420856" y="6323076"/>
            <a:ext cx="219456" cy="68580"/>
          </a:xfrm>
          <a:prstGeom prst="diamond">
            <a:avLst/>
          </a:prstGeom>
          <a:solidFill>
            <a:srgbClr val="D4AF37">
              <a:alpha val="80000"/>
            </a:srgbClr>
          </a:solidFill>
          <a:ln/>
        </p:spPr>
      </p:sp>
      <p:sp>
        <p:nvSpPr>
          <p:cNvPr id="13" name="Shape 11"/>
          <p:cNvSpPr/>
          <p:nvPr/>
        </p:nvSpPr>
        <p:spPr>
          <a:xfrm rot="-8100000">
            <a:off x="11320272" y="6176772"/>
            <a:ext cx="155448" cy="50292"/>
          </a:xfrm>
          <a:prstGeom prst="diamond">
            <a:avLst/>
          </a:prstGeom>
          <a:solidFill>
            <a:srgbClr val="D4AF37">
              <a:alpha val="80000"/>
            </a:srgbClr>
          </a:solidFill>
          <a:ln/>
        </p:spPr>
      </p:sp>
      <p:sp>
        <p:nvSpPr>
          <p:cNvPr id="14" name="Shape 12"/>
          <p:cNvSpPr/>
          <p:nvPr/>
        </p:nvSpPr>
        <p:spPr>
          <a:xfrm>
            <a:off x="5943600" y="502920"/>
            <a:ext cx="274320" cy="822960"/>
          </a:xfrm>
          <a:prstGeom prst="diamond">
            <a:avLst/>
          </a:prstGeom>
          <a:solidFill>
            <a:srgbClr val="AEB4BD"/>
          </a:solidFill>
          <a:ln w="12700">
            <a:solidFill>
              <a:srgbClr val="D4AF37"/>
            </a:solidFill>
            <a:prstDash val="solid"/>
          </a:ln>
        </p:spPr>
      </p:sp>
      <p:sp>
        <p:nvSpPr>
          <p:cNvPr id="15" name="Shape 13"/>
          <p:cNvSpPr/>
          <p:nvPr/>
        </p:nvSpPr>
        <p:spPr>
          <a:xfrm>
            <a:off x="6035040" y="1280160"/>
            <a:ext cx="91440" cy="1234440"/>
          </a:xfrm>
          <a:prstGeom prst="rect">
            <a:avLst/>
          </a:prstGeom>
          <a:solidFill>
            <a:srgbClr val="5C636D"/>
          </a:solidFill>
          <a:ln/>
        </p:spPr>
      </p:sp>
      <p:sp>
        <p:nvSpPr>
          <p:cNvPr id="16" name="Text 14"/>
          <p:cNvSpPr/>
          <p:nvPr/>
        </p:nvSpPr>
        <p:spPr>
          <a:xfrm>
            <a:off x="0" y="2788920"/>
            <a:ext cx="12161520" cy="411480"/>
          </a:xfrm>
          <a:prstGeom prst="rect">
            <a:avLst/>
          </a:prstGeom>
          <a:noFill/>
          <a:ln/>
        </p:spPr>
        <p:txBody>
          <a:bodyPr wrap="square" lIns="0" tIns="0" rIns="0" bIns="0" rtlCol="0" anchor="ctr"/>
          <a:lstStyle/>
          <a:p>
            <a:pPr algn="ctr" indent="0" marL="0">
              <a:buNone/>
            </a:pPr>
            <a:r>
              <a:rPr lang="en-US" sz="1500" spc="200" kern="0" dirty="0">
                <a:solidFill>
                  <a:srgbClr val="D4AF37"/>
                </a:solidFill>
                <a:latin typeface="Latha" pitchFamily="34" charset="0"/>
                <a:ea typeface="Latha" pitchFamily="34" charset="-122"/>
                <a:cs typeface="Latha" pitchFamily="34" charset="-120"/>
              </a:rPr>
              <a:t>இயல் 3 · கவிதைப்பேழைக்கு முன்னுரை</a:t>
            </a:r>
            <a:endParaRPr lang="en-US" sz="1500" dirty="0"/>
          </a:p>
        </p:txBody>
      </p:sp>
      <p:sp>
        <p:nvSpPr>
          <p:cNvPr id="17" name="Text 15"/>
          <p:cNvSpPr/>
          <p:nvPr/>
        </p:nvSpPr>
        <p:spPr>
          <a:xfrm>
            <a:off x="0" y="3108960"/>
            <a:ext cx="12161520" cy="1188720"/>
          </a:xfrm>
          <a:prstGeom prst="rect">
            <a:avLst/>
          </a:prstGeom>
          <a:noFill/>
          <a:ln/>
        </p:spPr>
        <p:txBody>
          <a:bodyPr wrap="square" lIns="0" tIns="0" rIns="0" bIns="0" rtlCol="0" anchor="ctr"/>
          <a:lstStyle/>
          <a:p>
            <a:pPr algn="ctr" indent="0" marL="0">
              <a:buNone/>
            </a:pPr>
            <a:r>
              <a:rPr lang="en-US" sz="6200" b="1" dirty="0">
                <a:solidFill>
                  <a:srgbClr val="FFF9F0"/>
                </a:solidFill>
                <a:latin typeface="Latha" pitchFamily="34" charset="0"/>
                <a:ea typeface="Latha" pitchFamily="34" charset="-122"/>
                <a:cs typeface="Latha" pitchFamily="34" charset="-120"/>
              </a:rPr>
              <a:t>முருகன்</a:t>
            </a:r>
            <a:endParaRPr lang="en-US" sz="6200" dirty="0"/>
          </a:p>
        </p:txBody>
      </p:sp>
      <p:sp>
        <p:nvSpPr>
          <p:cNvPr id="18" name="Text 16"/>
          <p:cNvSpPr/>
          <p:nvPr/>
        </p:nvSpPr>
        <p:spPr>
          <a:xfrm>
            <a:off x="0" y="4251960"/>
            <a:ext cx="12161520" cy="548640"/>
          </a:xfrm>
          <a:prstGeom prst="rect">
            <a:avLst/>
          </a:prstGeom>
          <a:noFill/>
          <a:ln/>
        </p:spPr>
        <p:txBody>
          <a:bodyPr wrap="square" lIns="0" tIns="0" rIns="0" bIns="0" rtlCol="0" anchor="ctr"/>
          <a:lstStyle/>
          <a:p>
            <a:pPr algn="ctr" indent="0" marL="0">
              <a:buNone/>
            </a:pPr>
            <a:r>
              <a:rPr lang="en-US" sz="1900" dirty="0">
                <a:solidFill>
                  <a:srgbClr val="AEB4BD"/>
                </a:solidFill>
                <a:latin typeface="Latha" pitchFamily="34" charset="0"/>
                <a:ea typeface="Latha" pitchFamily="34" charset="-122"/>
                <a:cs typeface="Latha" pitchFamily="34" charset="-120"/>
              </a:rPr>
              <a:t>வேலவன் வரலாறும் விழுமியமும்</a:t>
            </a:r>
            <a:endParaRPr lang="en-US" sz="1900" dirty="0"/>
          </a:p>
        </p:txBody>
      </p:sp>
      <p:sp>
        <p:nvSpPr>
          <p:cNvPr id="19" name="Shape 17"/>
          <p:cNvSpPr/>
          <p:nvPr/>
        </p:nvSpPr>
        <p:spPr>
          <a:xfrm>
            <a:off x="5623560" y="4983480"/>
            <a:ext cx="914400" cy="914400"/>
          </a:xfrm>
          <a:prstGeom prst="ellipse">
            <a:avLst/>
          </a:prstGeom>
          <a:solidFill>
            <a:srgbClr val="0E6F5C">
              <a:alpha val="90000"/>
            </a:srgbClr>
          </a:solidFill>
          <a:ln w="12700">
            <a:solidFill>
              <a:srgbClr val="D4AF37"/>
            </a:solidFill>
            <a:prstDash val="solid"/>
          </a:ln>
        </p:spPr>
      </p:sp>
      <p:sp>
        <p:nvSpPr>
          <p:cNvPr id="20" name="Shape 18"/>
          <p:cNvSpPr/>
          <p:nvPr/>
        </p:nvSpPr>
        <p:spPr>
          <a:xfrm>
            <a:off x="5733288" y="5093208"/>
            <a:ext cx="694944" cy="694944"/>
          </a:xfrm>
          <a:prstGeom prst="ellipse">
            <a:avLst/>
          </a:prstGeom>
          <a:solidFill>
            <a:srgbClr val="D4AF37">
              <a:alpha val="85000"/>
            </a:srgbClr>
          </a:solidFill>
          <a:ln/>
        </p:spPr>
      </p:sp>
      <p:sp>
        <p:nvSpPr>
          <p:cNvPr id="21" name="Shape 19"/>
          <p:cNvSpPr/>
          <p:nvPr/>
        </p:nvSpPr>
        <p:spPr>
          <a:xfrm>
            <a:off x="5875020" y="5234940"/>
            <a:ext cx="411480" cy="411480"/>
          </a:xfrm>
          <a:prstGeom prst="ellipse">
            <a:avLst/>
          </a:prstGeom>
          <a:solidFill>
            <a:srgbClr val="45050D"/>
          </a:solidFill>
          <a:ln/>
        </p:spPr>
      </p:sp>
      <p:sp>
        <p:nvSpPr>
          <p:cNvPr id="22" name="Text 20"/>
          <p:cNvSpPr/>
          <p:nvPr/>
        </p:nvSpPr>
        <p:spPr>
          <a:xfrm>
            <a:off x="0" y="6172200"/>
            <a:ext cx="12161520" cy="457200"/>
          </a:xfrm>
          <a:prstGeom prst="rect">
            <a:avLst/>
          </a:prstGeom>
          <a:noFill/>
          <a:ln/>
        </p:spPr>
        <p:txBody>
          <a:bodyPr wrap="square" lIns="0" tIns="0" rIns="0" bIns="0" rtlCol="0" anchor="ctr"/>
          <a:lstStyle/>
          <a:p>
            <a:pPr algn="ctr" indent="0" marL="0">
              <a:buNone/>
            </a:pPr>
            <a:r>
              <a:rPr lang="en-US" sz="1200" i="1" dirty="0">
                <a:solidFill>
                  <a:srgbClr val="D9C9C0"/>
                </a:solidFill>
                <a:latin typeface="Latha" pitchFamily="34" charset="0"/>
                <a:ea typeface="Latha" pitchFamily="34" charset="-122"/>
                <a:cs typeface="Latha" pitchFamily="34" charset="-120"/>
              </a:rPr>
              <a:t>பிறப்பு · புராணக் கதைகள் · குறியீடுகள் · கிழக்கு-மேற்குச் சிந்தனை ஒப்பீடு · பயணமும் பக்தியும்</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6446520"/>
            <a:ext cx="292608" cy="91440"/>
          </a:xfrm>
          <a:prstGeom prst="diamond">
            <a:avLst/>
          </a:prstGeom>
          <a:solidFill>
            <a:srgbClr val="D4AF37">
              <a:alpha val="80000"/>
            </a:srgbClr>
          </a:solidFill>
          <a:ln/>
        </p:spPr>
      </p:sp>
      <p:sp>
        <p:nvSpPr>
          <p:cNvPr id="6" name="Shape 4"/>
          <p:cNvSpPr/>
          <p:nvPr/>
        </p:nvSpPr>
        <p:spPr>
          <a:xfrm rot="-8100000">
            <a:off x="11420856" y="6323076"/>
            <a:ext cx="219456" cy="68580"/>
          </a:xfrm>
          <a:prstGeom prst="diamond">
            <a:avLst/>
          </a:prstGeom>
          <a:solidFill>
            <a:srgbClr val="D4AF37">
              <a:alpha val="80000"/>
            </a:srgbClr>
          </a:solidFill>
          <a:ln/>
        </p:spPr>
      </p:sp>
      <p:sp>
        <p:nvSpPr>
          <p:cNvPr id="7" name="Shape 5"/>
          <p:cNvSpPr/>
          <p:nvPr/>
        </p:nvSpPr>
        <p:spPr>
          <a:xfrm rot="-8100000">
            <a:off x="11320272" y="6176772"/>
            <a:ext cx="155448" cy="50292"/>
          </a:xfrm>
          <a:prstGeom prst="diamond">
            <a:avLst/>
          </a:prstGeom>
          <a:solidFill>
            <a:srgbClr val="D4AF37">
              <a:alpha val="80000"/>
            </a:srgbClr>
          </a:solidFill>
          <a:ln/>
        </p:spPr>
      </p:sp>
      <p:sp>
        <p:nvSpPr>
          <p:cNvPr id="8" name="Shape 6"/>
          <p:cNvSpPr/>
          <p:nvPr/>
        </p:nvSpPr>
        <p:spPr>
          <a:xfrm>
            <a:off x="10835640" y="320040"/>
            <a:ext cx="777240" cy="777240"/>
          </a:xfrm>
          <a:prstGeom prst="ellipse">
            <a:avLst/>
          </a:prstGeom>
          <a:solidFill>
            <a:srgbClr val="0E6F5C">
              <a:alpha val="90000"/>
            </a:srgbClr>
          </a:solidFill>
          <a:ln w="12700">
            <a:solidFill>
              <a:srgbClr val="D4AF37"/>
            </a:solidFill>
            <a:prstDash val="solid"/>
          </a:ln>
        </p:spPr>
      </p:sp>
      <p:sp>
        <p:nvSpPr>
          <p:cNvPr id="9" name="Shape 7"/>
          <p:cNvSpPr/>
          <p:nvPr/>
        </p:nvSpPr>
        <p:spPr>
          <a:xfrm>
            <a:off x="10928909" y="413309"/>
            <a:ext cx="590702" cy="590702"/>
          </a:xfrm>
          <a:prstGeom prst="ellipse">
            <a:avLst/>
          </a:prstGeom>
          <a:solidFill>
            <a:srgbClr val="D4AF37">
              <a:alpha val="85000"/>
            </a:srgbClr>
          </a:solidFill>
          <a:ln/>
        </p:spPr>
      </p:sp>
      <p:sp>
        <p:nvSpPr>
          <p:cNvPr id="10" name="Shape 8"/>
          <p:cNvSpPr/>
          <p:nvPr/>
        </p:nvSpPr>
        <p:spPr>
          <a:xfrm>
            <a:off x="11049381" y="533781"/>
            <a:ext cx="349758" cy="349758"/>
          </a:xfrm>
          <a:prstGeom prst="ellipse">
            <a:avLst/>
          </a:prstGeom>
          <a:solidFill>
            <a:srgbClr val="45050D"/>
          </a:solidFill>
          <a:ln/>
        </p:spPr>
      </p:sp>
      <p:sp>
        <p:nvSpPr>
          <p:cNvPr id="11" name="Shape 9"/>
          <p:cNvSpPr/>
          <p:nvPr/>
        </p:nvSpPr>
        <p:spPr>
          <a:xfrm>
            <a:off x="548640" y="2148840"/>
            <a:ext cx="2103120" cy="502920"/>
          </a:xfrm>
          <a:prstGeom prst="roundRect">
            <a:avLst>
              <a:gd name="adj" fmla="val 49091"/>
            </a:avLst>
          </a:prstGeom>
          <a:solidFill>
            <a:srgbClr val="D4AF37"/>
          </a:solidFill>
          <a:ln/>
        </p:spPr>
      </p:sp>
      <p:sp>
        <p:nvSpPr>
          <p:cNvPr id="12" name="Text 10"/>
          <p:cNvSpPr/>
          <p:nvPr/>
        </p:nvSpPr>
        <p:spPr>
          <a:xfrm>
            <a:off x="548640" y="2148840"/>
            <a:ext cx="2103120" cy="502920"/>
          </a:xfrm>
          <a:prstGeom prst="rect">
            <a:avLst/>
          </a:prstGeom>
          <a:noFill/>
          <a:ln/>
        </p:spPr>
        <p:txBody>
          <a:bodyPr wrap="square" lIns="0" tIns="0" rIns="0" bIns="0" rtlCol="0" anchor="ctr"/>
          <a:lstStyle/>
          <a:p>
            <a:pPr algn="ctr" indent="0" marL="0">
              <a:buNone/>
            </a:pPr>
            <a:r>
              <a:rPr lang="en-US" sz="1600" b="1" dirty="0">
                <a:solidFill>
                  <a:srgbClr val="45050D"/>
                </a:solidFill>
                <a:latin typeface="Latha" pitchFamily="34" charset="0"/>
                <a:ea typeface="Latha" pitchFamily="34" charset="-122"/>
                <a:cs typeface="Latha" pitchFamily="34" charset="-120"/>
              </a:rPr>
              <a:t>இயல் 1</a:t>
            </a:r>
            <a:endParaRPr lang="en-US" sz="1600" dirty="0"/>
          </a:p>
        </p:txBody>
      </p:sp>
      <p:sp>
        <p:nvSpPr>
          <p:cNvPr id="13" name="Text 11"/>
          <p:cNvSpPr/>
          <p:nvPr/>
        </p:nvSpPr>
        <p:spPr>
          <a:xfrm>
            <a:off x="548640" y="2788920"/>
            <a:ext cx="7040880" cy="1463040"/>
          </a:xfrm>
          <a:prstGeom prst="rect">
            <a:avLst/>
          </a:prstGeom>
          <a:noFill/>
          <a:ln/>
        </p:spPr>
        <p:txBody>
          <a:bodyPr wrap="square" lIns="0" tIns="0" rIns="0" bIns="0" rtlCol="0" anchor="ctr"/>
          <a:lstStyle/>
          <a:p>
            <a:pPr indent="0" marL="0">
              <a:lnSpc>
                <a:spcPct val="110000"/>
              </a:lnSpc>
              <a:buNone/>
            </a:pPr>
            <a:r>
              <a:rPr lang="en-US" sz="3800" b="1" dirty="0">
                <a:solidFill>
                  <a:srgbClr val="FFF9F0"/>
                </a:solidFill>
                <a:latin typeface="Latha" pitchFamily="34" charset="0"/>
                <a:ea typeface="Latha" pitchFamily="34" charset="-122"/>
                <a:cs typeface="Latha" pitchFamily="34" charset="-120"/>
              </a:rPr>
              <a:t>முருகன் யார்?</a:t>
            </a:r>
            <a:endParaRPr lang="en-US" sz="3800" dirty="0"/>
          </a:p>
        </p:txBody>
      </p:sp>
      <p:sp>
        <p:nvSpPr>
          <p:cNvPr id="14" name="Text 12"/>
          <p:cNvSpPr/>
          <p:nvPr/>
        </p:nvSpPr>
        <p:spPr>
          <a:xfrm>
            <a:off x="548640" y="4160520"/>
            <a:ext cx="6766560" cy="548640"/>
          </a:xfrm>
          <a:prstGeom prst="rect">
            <a:avLst/>
          </a:prstGeom>
          <a:noFill/>
          <a:ln/>
        </p:spPr>
        <p:txBody>
          <a:bodyPr wrap="square" lIns="0" tIns="0" rIns="0" bIns="0" rtlCol="0" anchor="ctr"/>
          <a:lstStyle/>
          <a:p>
            <a:pPr indent="0" marL="0">
              <a:buNone/>
            </a:pPr>
            <a:r>
              <a:rPr lang="en-US" sz="1500" i="1" dirty="0">
                <a:solidFill>
                  <a:srgbClr val="D4AF37"/>
                </a:solidFill>
                <a:latin typeface="Latha" pitchFamily="34" charset="0"/>
                <a:ea typeface="Latha" pitchFamily="34" charset="-122"/>
                <a:cs typeface="Latha" pitchFamily="34" charset="-120"/>
              </a:rPr>
              <a:t>பெயரும் பொருளும்</a:t>
            </a:r>
            <a:endParaRPr lang="en-US" sz="1500" dirty="0"/>
          </a:p>
        </p:txBody>
      </p:sp>
      <p:sp>
        <p:nvSpPr>
          <p:cNvPr id="15" name="Shape 13"/>
          <p:cNvSpPr/>
          <p:nvPr/>
        </p:nvSpPr>
        <p:spPr>
          <a:xfrm>
            <a:off x="7863840" y="1371600"/>
            <a:ext cx="3749040" cy="4206240"/>
          </a:xfrm>
          <a:prstGeom prst="roundRect">
            <a:avLst>
              <a:gd name="adj" fmla="val 1951"/>
            </a:avLst>
          </a:prstGeom>
          <a:solidFill>
            <a:srgbClr val="FFFFFF">
              <a:alpha val="70000"/>
            </a:srgbClr>
          </a:solidFill>
          <a:ln w="19050">
            <a:solidFill>
              <a:srgbClr val="5C636D"/>
            </a:solidFill>
            <a:prstDash val="dash"/>
          </a:ln>
        </p:spPr>
      </p:sp>
      <p:sp>
        <p:nvSpPr>
          <p:cNvPr id="16" name="Shape 14"/>
          <p:cNvSpPr/>
          <p:nvPr/>
        </p:nvSpPr>
        <p:spPr>
          <a:xfrm>
            <a:off x="9486900" y="1627632"/>
            <a:ext cx="502920" cy="365760"/>
          </a:xfrm>
          <a:prstGeom prst="roundRect">
            <a:avLst>
              <a:gd name="adj" fmla="val 7500"/>
            </a:avLst>
          </a:prstGeom>
          <a:ln w="19050">
            <a:solidFill>
              <a:srgbClr val="5C636D"/>
            </a:solidFill>
            <a:prstDash val="solid"/>
          </a:ln>
        </p:spPr>
      </p:sp>
      <p:sp>
        <p:nvSpPr>
          <p:cNvPr id="17" name="Shape 15"/>
          <p:cNvSpPr/>
          <p:nvPr/>
        </p:nvSpPr>
        <p:spPr>
          <a:xfrm>
            <a:off x="9541764" y="1682496"/>
            <a:ext cx="82296" cy="82296"/>
          </a:xfrm>
          <a:prstGeom prst="ellipse">
            <a:avLst/>
          </a:prstGeom>
          <a:solidFill>
            <a:srgbClr val="5C636D"/>
          </a:solidFill>
          <a:ln/>
        </p:spPr>
      </p:sp>
      <p:sp>
        <p:nvSpPr>
          <p:cNvPr id="18" name="Shape 16"/>
          <p:cNvSpPr/>
          <p:nvPr/>
        </p:nvSpPr>
        <p:spPr>
          <a:xfrm>
            <a:off x="9633204" y="1755648"/>
            <a:ext cx="292608" cy="182880"/>
          </a:xfrm>
          <a:prstGeom prst="triangle">
            <a:avLst/>
          </a:prstGeom>
          <a:solidFill>
            <a:srgbClr val="5C636D"/>
          </a:solidFill>
          <a:ln/>
        </p:spPr>
      </p:sp>
      <p:sp>
        <p:nvSpPr>
          <p:cNvPr id="19" name="Text 17"/>
          <p:cNvSpPr/>
          <p:nvPr/>
        </p:nvSpPr>
        <p:spPr>
          <a:xfrm>
            <a:off x="8001000" y="2103120"/>
            <a:ext cx="347472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20" name="Text 18"/>
          <p:cNvSpPr/>
          <p:nvPr/>
        </p:nvSpPr>
        <p:spPr>
          <a:xfrm>
            <a:off x="8046720" y="2450592"/>
            <a:ext cx="338328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ancient Tamil hill shrine Murugan Sangam era</a:t>
            </a:r>
            <a:endParaRPr lang="en-US" sz="1000" dirty="0"/>
          </a:p>
        </p:txBody>
      </p:sp>
      <p:sp>
        <p:nvSpPr>
          <p:cNvPr id="21" name="Text 19"/>
          <p:cNvSpPr/>
          <p:nvPr/>
        </p:nvSpPr>
        <p:spPr>
          <a:xfrm>
            <a:off x="8046720" y="3319272"/>
            <a:ext cx="3383280" cy="212140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A gentle illustrated hilltop shrine in ancient Tamil Nadu at sunset, simple stone platform under a tree, warm golds and reds, storybook style, no realistic violence, age-appropriate for children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பெயரின் பொருள்</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"முருகு" என்றால் என்ன?</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"முருகன்" என்ற பெயர் பழந்தமிழ்ச் சொல்லான "முருகு" என்பதிலிருந்து வந்தது. சங்க காலத் தமிழில் முருகு என்றால் இளமை, அழகு, மணம் (நறுமணம்), மற்றும் தெய்வத்தன்மை என்று பொருள்.</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தமிழகத்தின் மலைப்பகுதிகளில் (குறிஞ்சி நிலம்) வாழ்ந்த நம் முன்னோர்கள், சிவன்-பார்வதி புராணக் கதைகள் தமிழகத்தில் பரவுவதற்கு முன்பே, "முருகு" எனும் இளமையான, ஆற்றல் மிக்க தெய்வத்தை மலை உச்சிகளில் வழிபட்டு வந்தனர்.</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எனவே முருகன் என்பவர் தமிழரின் மிகப் பழமையான, சொந்தமான தெய்வம் — பின்னர் சிவனின் மகனாகவும் இணைக்கப்பட்டார்.</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Tamil Sangam era Murugan hill worship kurinji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வேறு பெயர்கள்</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ஒவ்வொரு பெயரும் ஒரு குணம்</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முருகனுக்கு பல பெயர்கள் உண்டு — ஒவ்வொன்றும் அவரது ஒரு சிறப்பியல்பைச் சொல்கிறது:</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செவ்வேள் — சிவந்த நிற இறைவன் (வீரம், ஆற்றல்)</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குமரன் — இளையவன், எப்போதும் இளமையுடன் இருப்பவன்</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ஆறுமுகன் / அறுமுகன் — ஆறு முகங்கள் கொண்டவன்</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வேலன் — வேல் ஏந்தியவன் (ஞானம், பாதுகாப்பு)</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கார்த்திகேயன் — கார்த்திகைப் பெண்களால் வளர்க்கப்பட்டவன்</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கந்தன், சுப்ரமணியன் — பல்வேறு பகுதிகளில் வழங்கும் பெயர்கள்</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Murugan six faces Arumugan iconography temple sculpture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6446520"/>
            <a:ext cx="292608" cy="91440"/>
          </a:xfrm>
          <a:prstGeom prst="diamond">
            <a:avLst/>
          </a:prstGeom>
          <a:solidFill>
            <a:srgbClr val="D4AF37">
              <a:alpha val="80000"/>
            </a:srgbClr>
          </a:solidFill>
          <a:ln/>
        </p:spPr>
      </p:sp>
      <p:sp>
        <p:nvSpPr>
          <p:cNvPr id="6" name="Shape 4"/>
          <p:cNvSpPr/>
          <p:nvPr/>
        </p:nvSpPr>
        <p:spPr>
          <a:xfrm rot="-8100000">
            <a:off x="11420856" y="6323076"/>
            <a:ext cx="219456" cy="68580"/>
          </a:xfrm>
          <a:prstGeom prst="diamond">
            <a:avLst/>
          </a:prstGeom>
          <a:solidFill>
            <a:srgbClr val="D4AF37">
              <a:alpha val="80000"/>
            </a:srgbClr>
          </a:solidFill>
          <a:ln/>
        </p:spPr>
      </p:sp>
      <p:sp>
        <p:nvSpPr>
          <p:cNvPr id="7" name="Shape 5"/>
          <p:cNvSpPr/>
          <p:nvPr/>
        </p:nvSpPr>
        <p:spPr>
          <a:xfrm rot="-8100000">
            <a:off x="11320272" y="6176772"/>
            <a:ext cx="155448" cy="50292"/>
          </a:xfrm>
          <a:prstGeom prst="diamond">
            <a:avLst/>
          </a:prstGeom>
          <a:solidFill>
            <a:srgbClr val="D4AF37">
              <a:alpha val="80000"/>
            </a:srgbClr>
          </a:solidFill>
          <a:ln/>
        </p:spPr>
      </p:sp>
      <p:sp>
        <p:nvSpPr>
          <p:cNvPr id="8" name="Shape 6"/>
          <p:cNvSpPr/>
          <p:nvPr/>
        </p:nvSpPr>
        <p:spPr>
          <a:xfrm>
            <a:off x="10835640" y="320040"/>
            <a:ext cx="777240" cy="777240"/>
          </a:xfrm>
          <a:prstGeom prst="ellipse">
            <a:avLst/>
          </a:prstGeom>
          <a:solidFill>
            <a:srgbClr val="0E6F5C">
              <a:alpha val="90000"/>
            </a:srgbClr>
          </a:solidFill>
          <a:ln w="12700">
            <a:solidFill>
              <a:srgbClr val="D4AF37"/>
            </a:solidFill>
            <a:prstDash val="solid"/>
          </a:ln>
        </p:spPr>
      </p:sp>
      <p:sp>
        <p:nvSpPr>
          <p:cNvPr id="9" name="Shape 7"/>
          <p:cNvSpPr/>
          <p:nvPr/>
        </p:nvSpPr>
        <p:spPr>
          <a:xfrm>
            <a:off x="10928909" y="413309"/>
            <a:ext cx="590702" cy="590702"/>
          </a:xfrm>
          <a:prstGeom prst="ellipse">
            <a:avLst/>
          </a:prstGeom>
          <a:solidFill>
            <a:srgbClr val="D4AF37">
              <a:alpha val="85000"/>
            </a:srgbClr>
          </a:solidFill>
          <a:ln/>
        </p:spPr>
      </p:sp>
      <p:sp>
        <p:nvSpPr>
          <p:cNvPr id="10" name="Shape 8"/>
          <p:cNvSpPr/>
          <p:nvPr/>
        </p:nvSpPr>
        <p:spPr>
          <a:xfrm>
            <a:off x="11049381" y="533781"/>
            <a:ext cx="349758" cy="349758"/>
          </a:xfrm>
          <a:prstGeom prst="ellipse">
            <a:avLst/>
          </a:prstGeom>
          <a:solidFill>
            <a:srgbClr val="45050D"/>
          </a:solidFill>
          <a:ln/>
        </p:spPr>
      </p:sp>
      <p:sp>
        <p:nvSpPr>
          <p:cNvPr id="11" name="Shape 9"/>
          <p:cNvSpPr/>
          <p:nvPr/>
        </p:nvSpPr>
        <p:spPr>
          <a:xfrm>
            <a:off x="548640" y="2148840"/>
            <a:ext cx="2103120" cy="502920"/>
          </a:xfrm>
          <a:prstGeom prst="roundRect">
            <a:avLst>
              <a:gd name="adj" fmla="val 49091"/>
            </a:avLst>
          </a:prstGeom>
          <a:solidFill>
            <a:srgbClr val="D4AF37"/>
          </a:solidFill>
          <a:ln/>
        </p:spPr>
      </p:sp>
      <p:sp>
        <p:nvSpPr>
          <p:cNvPr id="12" name="Text 10"/>
          <p:cNvSpPr/>
          <p:nvPr/>
        </p:nvSpPr>
        <p:spPr>
          <a:xfrm>
            <a:off x="548640" y="2148840"/>
            <a:ext cx="2103120" cy="502920"/>
          </a:xfrm>
          <a:prstGeom prst="rect">
            <a:avLst/>
          </a:prstGeom>
          <a:noFill/>
          <a:ln/>
        </p:spPr>
        <p:txBody>
          <a:bodyPr wrap="square" lIns="0" tIns="0" rIns="0" bIns="0" rtlCol="0" anchor="ctr"/>
          <a:lstStyle/>
          <a:p>
            <a:pPr algn="ctr" indent="0" marL="0">
              <a:buNone/>
            </a:pPr>
            <a:r>
              <a:rPr lang="en-US" sz="1600" b="1" dirty="0">
                <a:solidFill>
                  <a:srgbClr val="45050D"/>
                </a:solidFill>
                <a:latin typeface="Latha" pitchFamily="34" charset="0"/>
                <a:ea typeface="Latha" pitchFamily="34" charset="-122"/>
                <a:cs typeface="Latha" pitchFamily="34" charset="-120"/>
              </a:rPr>
              <a:t>இயல் 2</a:t>
            </a:r>
            <a:endParaRPr lang="en-US" sz="1600" dirty="0"/>
          </a:p>
        </p:txBody>
      </p:sp>
      <p:sp>
        <p:nvSpPr>
          <p:cNvPr id="13" name="Text 11"/>
          <p:cNvSpPr/>
          <p:nvPr/>
        </p:nvSpPr>
        <p:spPr>
          <a:xfrm>
            <a:off x="548640" y="2788920"/>
            <a:ext cx="7040880" cy="1463040"/>
          </a:xfrm>
          <a:prstGeom prst="rect">
            <a:avLst/>
          </a:prstGeom>
          <a:noFill/>
          <a:ln/>
        </p:spPr>
        <p:txBody>
          <a:bodyPr wrap="square" lIns="0" tIns="0" rIns="0" bIns="0" rtlCol="0" anchor="ctr"/>
          <a:lstStyle/>
          <a:p>
            <a:pPr indent="0" marL="0">
              <a:lnSpc>
                <a:spcPct val="110000"/>
              </a:lnSpc>
              <a:buNone/>
            </a:pPr>
            <a:r>
              <a:rPr lang="en-US" sz="3800" b="1" dirty="0">
                <a:solidFill>
                  <a:srgbClr val="FFF9F0"/>
                </a:solidFill>
                <a:latin typeface="Latha" pitchFamily="34" charset="0"/>
                <a:ea typeface="Latha" pitchFamily="34" charset="-122"/>
                <a:cs typeface="Latha" pitchFamily="34" charset="-120"/>
              </a:rPr>
              <a:t>பிறப்பும் நோக்கமும்</a:t>
            </a:r>
            <a:endParaRPr lang="en-US" sz="3800" dirty="0"/>
          </a:p>
        </p:txBody>
      </p:sp>
      <p:sp>
        <p:nvSpPr>
          <p:cNvPr id="14" name="Text 12"/>
          <p:cNvSpPr/>
          <p:nvPr/>
        </p:nvSpPr>
        <p:spPr>
          <a:xfrm>
            <a:off x="548640" y="4160520"/>
            <a:ext cx="6766560" cy="548640"/>
          </a:xfrm>
          <a:prstGeom prst="rect">
            <a:avLst/>
          </a:prstGeom>
          <a:noFill/>
          <a:ln/>
        </p:spPr>
        <p:txBody>
          <a:bodyPr wrap="square" lIns="0" tIns="0" rIns="0" bIns="0" rtlCol="0" anchor="ctr"/>
          <a:lstStyle/>
          <a:p>
            <a:pPr indent="0" marL="0">
              <a:buNone/>
            </a:pPr>
            <a:r>
              <a:rPr lang="en-US" sz="1500" i="1" dirty="0">
                <a:solidFill>
                  <a:srgbClr val="D4AF37"/>
                </a:solidFill>
                <a:latin typeface="Latha" pitchFamily="34" charset="0"/>
                <a:ea typeface="Latha" pitchFamily="34" charset="-122"/>
                <a:cs typeface="Latha" pitchFamily="34" charset="-120"/>
              </a:rPr>
              <a:t>ஏன் முருகன் பிறந்தார்?</a:t>
            </a:r>
            <a:endParaRPr lang="en-US" sz="1500" dirty="0"/>
          </a:p>
        </p:txBody>
      </p:sp>
      <p:sp>
        <p:nvSpPr>
          <p:cNvPr id="15" name="Shape 13"/>
          <p:cNvSpPr/>
          <p:nvPr/>
        </p:nvSpPr>
        <p:spPr>
          <a:xfrm>
            <a:off x="7863840" y="1371600"/>
            <a:ext cx="3749040" cy="4206240"/>
          </a:xfrm>
          <a:prstGeom prst="roundRect">
            <a:avLst>
              <a:gd name="adj" fmla="val 1951"/>
            </a:avLst>
          </a:prstGeom>
          <a:solidFill>
            <a:srgbClr val="FFFFFF">
              <a:alpha val="70000"/>
            </a:srgbClr>
          </a:solidFill>
          <a:ln w="19050">
            <a:solidFill>
              <a:srgbClr val="5C636D"/>
            </a:solidFill>
            <a:prstDash val="dash"/>
          </a:ln>
        </p:spPr>
      </p:sp>
      <p:sp>
        <p:nvSpPr>
          <p:cNvPr id="16" name="Shape 14"/>
          <p:cNvSpPr/>
          <p:nvPr/>
        </p:nvSpPr>
        <p:spPr>
          <a:xfrm>
            <a:off x="9486900" y="1627632"/>
            <a:ext cx="502920" cy="365760"/>
          </a:xfrm>
          <a:prstGeom prst="roundRect">
            <a:avLst>
              <a:gd name="adj" fmla="val 7500"/>
            </a:avLst>
          </a:prstGeom>
          <a:ln w="19050">
            <a:solidFill>
              <a:srgbClr val="5C636D"/>
            </a:solidFill>
            <a:prstDash val="solid"/>
          </a:ln>
        </p:spPr>
      </p:sp>
      <p:sp>
        <p:nvSpPr>
          <p:cNvPr id="17" name="Shape 15"/>
          <p:cNvSpPr/>
          <p:nvPr/>
        </p:nvSpPr>
        <p:spPr>
          <a:xfrm>
            <a:off x="9541764" y="1682496"/>
            <a:ext cx="82296" cy="82296"/>
          </a:xfrm>
          <a:prstGeom prst="ellipse">
            <a:avLst/>
          </a:prstGeom>
          <a:solidFill>
            <a:srgbClr val="5C636D"/>
          </a:solidFill>
          <a:ln/>
        </p:spPr>
      </p:sp>
      <p:sp>
        <p:nvSpPr>
          <p:cNvPr id="18" name="Shape 16"/>
          <p:cNvSpPr/>
          <p:nvPr/>
        </p:nvSpPr>
        <p:spPr>
          <a:xfrm>
            <a:off x="9633204" y="1755648"/>
            <a:ext cx="292608" cy="182880"/>
          </a:xfrm>
          <a:prstGeom prst="triangle">
            <a:avLst/>
          </a:prstGeom>
          <a:solidFill>
            <a:srgbClr val="5C636D"/>
          </a:solidFill>
          <a:ln/>
        </p:spPr>
      </p:sp>
      <p:sp>
        <p:nvSpPr>
          <p:cNvPr id="19" name="Text 17"/>
          <p:cNvSpPr/>
          <p:nvPr/>
        </p:nvSpPr>
        <p:spPr>
          <a:xfrm>
            <a:off x="8001000" y="2103120"/>
            <a:ext cx="347472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20" name="Text 18"/>
          <p:cNvSpPr/>
          <p:nvPr/>
        </p:nvSpPr>
        <p:spPr>
          <a:xfrm>
            <a:off x="8046720" y="2450592"/>
            <a:ext cx="338328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Saravana poigai six stars Karthigai reeds pond</a:t>
            </a:r>
            <a:endParaRPr lang="en-US" sz="1000" dirty="0"/>
          </a:p>
        </p:txBody>
      </p:sp>
      <p:sp>
        <p:nvSpPr>
          <p:cNvPr id="21" name="Text 19"/>
          <p:cNvSpPr/>
          <p:nvPr/>
        </p:nvSpPr>
        <p:spPr>
          <a:xfrm>
            <a:off x="8046720" y="3319272"/>
            <a:ext cx="3383280" cy="212140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A peaceful pond full of tall green reeds under six twinkling stars in a dusky sky, gentle storybook illustration, soft warm lighting, no scary elements, suitable for a 12-year-old audience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7A1620">
              <a:alpha val="80000"/>
            </a:srgbClr>
          </a:solidFill>
          <a:ln/>
        </p:spPr>
      </p:sp>
      <p:sp>
        <p:nvSpPr>
          <p:cNvPr id="3" name="Shape 1"/>
          <p:cNvSpPr/>
          <p:nvPr/>
        </p:nvSpPr>
        <p:spPr>
          <a:xfrm rot="2700000">
            <a:off x="521208" y="466344"/>
            <a:ext cx="219456" cy="68580"/>
          </a:xfrm>
          <a:prstGeom prst="diamond">
            <a:avLst/>
          </a:prstGeom>
          <a:solidFill>
            <a:srgbClr val="7A1620">
              <a:alpha val="80000"/>
            </a:srgbClr>
          </a:solidFill>
          <a:ln/>
        </p:spPr>
      </p:sp>
      <p:sp>
        <p:nvSpPr>
          <p:cNvPr id="4" name="Shape 2"/>
          <p:cNvSpPr/>
          <p:nvPr/>
        </p:nvSpPr>
        <p:spPr>
          <a:xfrm rot="2700000">
            <a:off x="685800" y="630936"/>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பிறப்புக் கதை (பாகம் 1)</a:t>
            </a:r>
            <a:endParaRPr lang="en-US" sz="1350" dirty="0"/>
          </a:p>
        </p:txBody>
      </p:sp>
      <p:sp>
        <p:nvSpPr>
          <p:cNvPr id="7" name="Text 5"/>
          <p:cNvSpPr/>
          <p:nvPr/>
        </p:nvSpPr>
        <p:spPr>
          <a:xfrm>
            <a:off x="548640" y="1097280"/>
            <a:ext cx="11064240" cy="685800"/>
          </a:xfrm>
          <a:prstGeom prst="rect">
            <a:avLst/>
          </a:prstGeom>
          <a:noFill/>
          <a:ln/>
        </p:spPr>
        <p:txBody>
          <a:bodyPr wrap="square" lIns="0" tIns="0" rIns="0" bIns="0" rtlCol="0" anchor="ctr"/>
          <a:lstStyle/>
          <a:p>
            <a:pPr indent="0" marL="0">
              <a:buNone/>
            </a:pPr>
            <a:r>
              <a:rPr lang="en-US" sz="2500" b="1" dirty="0">
                <a:solidFill>
                  <a:srgbClr val="7A1620"/>
                </a:solidFill>
                <a:latin typeface="Latha" pitchFamily="34" charset="0"/>
                <a:ea typeface="Latha" pitchFamily="34" charset="-122"/>
                <a:cs typeface="Latha" pitchFamily="34" charset="-120"/>
              </a:rPr>
              <a:t>ஆறு பொறிகள், ஒரு நோக்கம்</a:t>
            </a:r>
            <a:endParaRPr lang="en-US" sz="2500" dirty="0"/>
          </a:p>
        </p:txBody>
      </p:sp>
      <p:sp>
        <p:nvSpPr>
          <p:cNvPr id="8" name="Text 6"/>
          <p:cNvSpPr/>
          <p:nvPr/>
        </p:nvSpPr>
        <p:spPr>
          <a:xfrm>
            <a:off x="548640" y="1874520"/>
            <a:ext cx="6263640" cy="4206240"/>
          </a:xfrm>
          <a:prstGeom prst="rect">
            <a:avLst/>
          </a:prstGeom>
          <a:noFill/>
          <a:ln/>
        </p:spPr>
        <p:txBody>
          <a:bodyPr wrap="square" lIns="0" tIns="0" rIns="0" bIns="0" rtlCol="0" anchor="t"/>
          <a:lstStyle/>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சிவபெருமானின் மூன்றாம் கண்ணிலிருந்து ஒரு மிகப் பெரிய ஆற்றல் வெளிப்பட்டது — அது மிகவும் சக்தி வாய்ந்தது, யாராலும் தனியே தாங்க முடியாதது.</a:t>
            </a:r>
            <a:endParaRPr lang="en-US" sz="1350" dirty="0"/>
          </a:p>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அந்த ஆற்றல் நெருப்பு (அக்னி) வழியாகவும், கங்கை நதி வழியாகவும் பயணித்து, இறுதியில் ஓர் அடர்ந்த நாணல் காட்டில் (சரவணப்பொய்கை) ஆறு சிறு பொறிகளாக ஓய்வு கொண்டது.</a:t>
            </a:r>
            <a:endParaRPr lang="en-US" sz="1350" dirty="0"/>
          </a:p>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அந்த ஆறு பொறிகளையும் ஆறு கார்த்திகைப் பெண்கள் (நட்சத்திரங்கள்) தாய்மையுடன் பேணி வளர்த்தனர்.</a:t>
            </a:r>
            <a:endParaRPr lang="en-US" sz="1350" dirty="0"/>
          </a:p>
        </p:txBody>
      </p:sp>
      <p:sp>
        <p:nvSpPr>
          <p:cNvPr id="9" name="Shape 7"/>
          <p:cNvSpPr/>
          <p:nvPr/>
        </p:nvSpPr>
        <p:spPr>
          <a:xfrm>
            <a:off x="7086600" y="1097280"/>
            <a:ext cx="4526280" cy="5212080"/>
          </a:xfrm>
          <a:prstGeom prst="roundRect">
            <a:avLst>
              <a:gd name="adj" fmla="val 1616"/>
            </a:avLst>
          </a:prstGeom>
          <a:solidFill>
            <a:srgbClr val="FFFFFF">
              <a:alpha val="70000"/>
            </a:srgbClr>
          </a:solidFill>
          <a:ln w="19050">
            <a:solidFill>
              <a:srgbClr val="5C636D"/>
            </a:solidFill>
            <a:prstDash val="dash"/>
          </a:ln>
        </p:spPr>
      </p:sp>
      <p:sp>
        <p:nvSpPr>
          <p:cNvPr id="10" name="Shape 8"/>
          <p:cNvSpPr/>
          <p:nvPr/>
        </p:nvSpPr>
        <p:spPr>
          <a:xfrm>
            <a:off x="9098280" y="1353312"/>
            <a:ext cx="502920" cy="365760"/>
          </a:xfrm>
          <a:prstGeom prst="roundRect">
            <a:avLst>
              <a:gd name="adj" fmla="val 7500"/>
            </a:avLst>
          </a:prstGeom>
          <a:ln w="19050">
            <a:solidFill>
              <a:srgbClr val="5C636D"/>
            </a:solidFill>
            <a:prstDash val="solid"/>
          </a:ln>
        </p:spPr>
      </p:sp>
      <p:sp>
        <p:nvSpPr>
          <p:cNvPr id="11" name="Shape 9"/>
          <p:cNvSpPr/>
          <p:nvPr/>
        </p:nvSpPr>
        <p:spPr>
          <a:xfrm>
            <a:off x="9153144" y="1408176"/>
            <a:ext cx="82296" cy="82296"/>
          </a:xfrm>
          <a:prstGeom prst="ellipse">
            <a:avLst/>
          </a:prstGeom>
          <a:solidFill>
            <a:srgbClr val="5C636D"/>
          </a:solidFill>
          <a:ln/>
        </p:spPr>
      </p:sp>
      <p:sp>
        <p:nvSpPr>
          <p:cNvPr id="12" name="Shape 10"/>
          <p:cNvSpPr/>
          <p:nvPr/>
        </p:nvSpPr>
        <p:spPr>
          <a:xfrm>
            <a:off x="9244584" y="1481328"/>
            <a:ext cx="292608" cy="182880"/>
          </a:xfrm>
          <a:prstGeom prst="triangle">
            <a:avLst/>
          </a:prstGeom>
          <a:solidFill>
            <a:srgbClr val="5C636D"/>
          </a:solidFill>
          <a:ln/>
        </p:spPr>
      </p:sp>
      <p:sp>
        <p:nvSpPr>
          <p:cNvPr id="13" name="Text 11"/>
          <p:cNvSpPr/>
          <p:nvPr/>
        </p:nvSpPr>
        <p:spPr>
          <a:xfrm>
            <a:off x="7223760" y="1828800"/>
            <a:ext cx="425196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7269480" y="2176272"/>
            <a:ext cx="416052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Kartikai six stars nurturing baby fire sparks reeds</a:t>
            </a:r>
            <a:endParaRPr lang="en-US" sz="1000" dirty="0"/>
          </a:p>
        </p:txBody>
      </p:sp>
      <p:sp>
        <p:nvSpPr>
          <p:cNvPr id="15" name="Text 13"/>
          <p:cNvSpPr/>
          <p:nvPr/>
        </p:nvSpPr>
        <p:spPr>
          <a:xfrm>
            <a:off x="7269480" y="3044952"/>
            <a:ext cx="4160520" cy="312724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Six gentle star-women lovingly caring for six tiny glowing sparks of light nestled among reeds, warm and nurturing storybook illustration, soft pastel and gold tones, child-friendly, no frightening imagery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7A1620">
              <a:alpha val="80000"/>
            </a:srgbClr>
          </a:solidFill>
          <a:ln/>
        </p:spPr>
      </p:sp>
      <p:sp>
        <p:nvSpPr>
          <p:cNvPr id="3" name="Shape 1"/>
          <p:cNvSpPr/>
          <p:nvPr/>
        </p:nvSpPr>
        <p:spPr>
          <a:xfrm rot="2700000">
            <a:off x="521208" y="466344"/>
            <a:ext cx="219456" cy="68580"/>
          </a:xfrm>
          <a:prstGeom prst="diamond">
            <a:avLst/>
          </a:prstGeom>
          <a:solidFill>
            <a:srgbClr val="7A1620">
              <a:alpha val="80000"/>
            </a:srgbClr>
          </a:solidFill>
          <a:ln/>
        </p:spPr>
      </p:sp>
      <p:sp>
        <p:nvSpPr>
          <p:cNvPr id="4" name="Shape 2"/>
          <p:cNvSpPr/>
          <p:nvPr/>
        </p:nvSpPr>
        <p:spPr>
          <a:xfrm rot="2700000">
            <a:off x="685800" y="630936"/>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பிறப்புக் கதை (பாகம் 2)</a:t>
            </a:r>
            <a:endParaRPr lang="en-US" sz="1350" dirty="0"/>
          </a:p>
        </p:txBody>
      </p:sp>
      <p:sp>
        <p:nvSpPr>
          <p:cNvPr id="7" name="Text 5"/>
          <p:cNvSpPr/>
          <p:nvPr/>
        </p:nvSpPr>
        <p:spPr>
          <a:xfrm>
            <a:off x="548640" y="1097280"/>
            <a:ext cx="11064240" cy="685800"/>
          </a:xfrm>
          <a:prstGeom prst="rect">
            <a:avLst/>
          </a:prstGeom>
          <a:noFill/>
          <a:ln/>
        </p:spPr>
        <p:txBody>
          <a:bodyPr wrap="square" lIns="0" tIns="0" rIns="0" bIns="0" rtlCol="0" anchor="ctr"/>
          <a:lstStyle/>
          <a:p>
            <a:pPr indent="0" marL="0">
              <a:buNone/>
            </a:pPr>
            <a:r>
              <a:rPr lang="en-US" sz="2500" b="1" dirty="0">
                <a:solidFill>
                  <a:srgbClr val="7A1620"/>
                </a:solidFill>
                <a:latin typeface="Latha" pitchFamily="34" charset="0"/>
                <a:ea typeface="Latha" pitchFamily="34" charset="-122"/>
                <a:cs typeface="Latha" pitchFamily="34" charset="-120"/>
              </a:rPr>
              <a:t>ஆறு முகங்கள் கொண்ட ஒருவன்</a:t>
            </a:r>
            <a:endParaRPr lang="en-US" sz="2500" dirty="0"/>
          </a:p>
        </p:txBody>
      </p:sp>
      <p:sp>
        <p:nvSpPr>
          <p:cNvPr id="8" name="Text 6"/>
          <p:cNvSpPr/>
          <p:nvPr/>
        </p:nvSpPr>
        <p:spPr>
          <a:xfrm>
            <a:off x="548640" y="1874520"/>
            <a:ext cx="6263640" cy="3246120"/>
          </a:xfrm>
          <a:prstGeom prst="rect">
            <a:avLst/>
          </a:prstGeom>
          <a:noFill/>
          <a:ln/>
        </p:spPr>
        <p:txBody>
          <a:bodyPr wrap="square" lIns="0" tIns="0" rIns="0" bIns="0" rtlCol="0" anchor="t"/>
          <a:lstStyle/>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பார்வதி தேவி அந்த ஆறு குழந்தைகளையும் ஒரே நேரத்தில் அன்புடன் தழுவிக் கொண்டார். அப்போது அவை ஆறும் இணைந்து, ஆறு முகங்களைக் கொண்ட ஒரே ஒரு குழந்தையாக மாறியது — அறுமுகன்.</a:t>
            </a:r>
            <a:endParaRPr lang="en-US" sz="1350" dirty="0"/>
          </a:p>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இதன் உட்பொருள் என்ன? சிதறிக் கிடக்கும் சிறு சிறு ஆற்றல்கள் (பொறிகள்), அன்பாலும் ஒரு பொதுவான நோக்கத்தாலும் இணையும்போது, ஒரு பெரிய, குவிந்த சக்தியாக மாறும் என்பதே.</a:t>
            </a:r>
            <a:endParaRPr lang="en-US" sz="1350" dirty="0"/>
          </a:p>
        </p:txBody>
      </p:sp>
      <p:sp>
        <p:nvSpPr>
          <p:cNvPr id="9" name="Shape 7"/>
          <p:cNvSpPr/>
          <p:nvPr/>
        </p:nvSpPr>
        <p:spPr>
          <a:xfrm>
            <a:off x="548640" y="5257800"/>
            <a:ext cx="6263640" cy="1051560"/>
          </a:xfrm>
          <a:prstGeom prst="roundRect">
            <a:avLst>
              <a:gd name="adj" fmla="val 8696"/>
            </a:avLst>
          </a:prstGeom>
          <a:solidFill>
            <a:srgbClr val="0E6F5C"/>
          </a:solidFill>
          <a:ln/>
        </p:spPr>
      </p:sp>
      <p:sp>
        <p:nvSpPr>
          <p:cNvPr id="10" name="Text 8"/>
          <p:cNvSpPr/>
          <p:nvPr/>
        </p:nvSpPr>
        <p:spPr>
          <a:xfrm>
            <a:off x="777240" y="5257800"/>
            <a:ext cx="5806440" cy="1051560"/>
          </a:xfrm>
          <a:prstGeom prst="rect">
            <a:avLst/>
          </a:prstGeom>
          <a:noFill/>
          <a:ln/>
        </p:spPr>
        <p:txBody>
          <a:bodyPr wrap="square" lIns="0" tIns="0" rIns="0" bIns="0" rtlCol="0" anchor="ctr"/>
          <a:lstStyle/>
          <a:p>
            <a:pPr algn="l" indent="0" marL="0">
              <a:lnSpc>
                <a:spcPct val="115000"/>
              </a:lnSpc>
              <a:buNone/>
            </a:pPr>
            <a:r>
              <a:rPr lang="en-US" sz="1250" b="1" dirty="0">
                <a:solidFill>
                  <a:srgbClr val="D4AF37"/>
                </a:solidFill>
                <a:latin typeface="Latha" pitchFamily="34" charset="0"/>
                <a:ea typeface="Latha" pitchFamily="34" charset="-122"/>
                <a:cs typeface="Latha" pitchFamily="34" charset="-120"/>
              </a:rPr>
              <a:t>படிப்பினை:  </a:t>
            </a:r>
            <a:pPr algn="l" indent="0" marL="0">
              <a:lnSpc>
                <a:spcPct val="115000"/>
              </a:lnSpc>
              <a:buNone/>
            </a:pPr>
            <a:r>
              <a:rPr lang="en-US" sz="1250" dirty="0">
                <a:solidFill>
                  <a:srgbClr val="FFFFFF"/>
                </a:solidFill>
                <a:latin typeface="Latha" pitchFamily="34" charset="0"/>
                <a:ea typeface="Latha" pitchFamily="34" charset="-122"/>
                <a:cs typeface="Latha" pitchFamily="34" charset="-120"/>
              </a:rPr>
              <a:t>பல சிறு முயற்சிகள், ஒன்றுபட்டு ஒரே குறிக்கோளை நோக்கிச் செல்லும்போது, பெரிய மாற்றத்தை உண்டாக்கும்.</a:t>
            </a:r>
            <a:endParaRPr lang="en-US" sz="1250" dirty="0"/>
          </a:p>
        </p:txBody>
      </p:sp>
      <p:sp>
        <p:nvSpPr>
          <p:cNvPr id="11" name="Shape 9"/>
          <p:cNvSpPr/>
          <p:nvPr/>
        </p:nvSpPr>
        <p:spPr>
          <a:xfrm>
            <a:off x="7086600" y="1097280"/>
            <a:ext cx="4526280" cy="5212080"/>
          </a:xfrm>
          <a:prstGeom prst="roundRect">
            <a:avLst>
              <a:gd name="adj" fmla="val 1616"/>
            </a:avLst>
          </a:prstGeom>
          <a:solidFill>
            <a:srgbClr val="FFFFFF">
              <a:alpha val="70000"/>
            </a:srgbClr>
          </a:solidFill>
          <a:ln w="19050">
            <a:solidFill>
              <a:srgbClr val="5C636D"/>
            </a:solidFill>
            <a:prstDash val="dash"/>
          </a:ln>
        </p:spPr>
      </p:sp>
      <p:sp>
        <p:nvSpPr>
          <p:cNvPr id="12" name="Shape 10"/>
          <p:cNvSpPr/>
          <p:nvPr/>
        </p:nvSpPr>
        <p:spPr>
          <a:xfrm>
            <a:off x="9098280" y="1353312"/>
            <a:ext cx="502920" cy="365760"/>
          </a:xfrm>
          <a:prstGeom prst="roundRect">
            <a:avLst>
              <a:gd name="adj" fmla="val 7500"/>
            </a:avLst>
          </a:prstGeom>
          <a:ln w="19050">
            <a:solidFill>
              <a:srgbClr val="5C636D"/>
            </a:solidFill>
            <a:prstDash val="solid"/>
          </a:ln>
        </p:spPr>
      </p:sp>
      <p:sp>
        <p:nvSpPr>
          <p:cNvPr id="13" name="Shape 11"/>
          <p:cNvSpPr/>
          <p:nvPr/>
        </p:nvSpPr>
        <p:spPr>
          <a:xfrm>
            <a:off x="9153144" y="1408176"/>
            <a:ext cx="82296" cy="82296"/>
          </a:xfrm>
          <a:prstGeom prst="ellipse">
            <a:avLst/>
          </a:prstGeom>
          <a:solidFill>
            <a:srgbClr val="5C636D"/>
          </a:solidFill>
          <a:ln/>
        </p:spPr>
      </p:sp>
      <p:sp>
        <p:nvSpPr>
          <p:cNvPr id="14" name="Shape 12"/>
          <p:cNvSpPr/>
          <p:nvPr/>
        </p:nvSpPr>
        <p:spPr>
          <a:xfrm>
            <a:off x="9244584" y="1481328"/>
            <a:ext cx="292608" cy="182880"/>
          </a:xfrm>
          <a:prstGeom prst="triangle">
            <a:avLst/>
          </a:prstGeom>
          <a:solidFill>
            <a:srgbClr val="5C636D"/>
          </a:solidFill>
          <a:ln/>
        </p:spPr>
      </p:sp>
      <p:sp>
        <p:nvSpPr>
          <p:cNvPr id="15" name="Text 13"/>
          <p:cNvSpPr/>
          <p:nvPr/>
        </p:nvSpPr>
        <p:spPr>
          <a:xfrm>
            <a:off x="7223760" y="1828800"/>
            <a:ext cx="425196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6" name="Text 14"/>
          <p:cNvSpPr/>
          <p:nvPr/>
        </p:nvSpPr>
        <p:spPr>
          <a:xfrm>
            <a:off x="7269480" y="2176272"/>
            <a:ext cx="416052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Parvati embracing six babies merging Arumugan illustration</a:t>
            </a:r>
            <a:endParaRPr lang="en-US" sz="1000" dirty="0"/>
          </a:p>
        </p:txBody>
      </p:sp>
      <p:sp>
        <p:nvSpPr>
          <p:cNvPr id="17" name="Text 15"/>
          <p:cNvSpPr/>
          <p:nvPr/>
        </p:nvSpPr>
        <p:spPr>
          <a:xfrm>
            <a:off x="7269480" y="3044952"/>
            <a:ext cx="4160520" cy="312724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Goddess Parvati gently embracing six small glowing infants who are merging together into one child with six gentle faces, soft warm divine light, storybook illustration style, tender and non-frightening, appropriate for children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பிறப்பின் நோக்கம்</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சமநிலையை மீட்பதற்காக</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அக்காலத்தில் சூரபத்மன் என்ற அசுரன், தன் வரங்களால் கிடைத்த வரம்பற்ற ஆற்றலால் தேவர்களை வருத்தி வந்தான். அவனுடைய தன்னடக்கமற்ற பேராசை உலகிற்கே அச்சுறுத்தலாக இருந்தது.</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முருகன் பிறந்தது இதற்குத் தீர்வு காண்பதற்காகவே. அவர் பெரிய படையையோ, பெரிய உடலையோ கொண்டவர் அல்ல — ஆனால் குவிந்த, குறிக்கோளுள்ள ஆற்றலைக் கொண்டவர்.</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இது ஒரு முக்கியமான கருத்தைச் சொல்கிறது: கட்டுப்பாடற்ற பேராற்றலை வெல்வது, இன்னும் பெரிய பலத்தால் அல்ல — திசைப்படுத்தப்பட்ட, ஒழுங்குபடுத்தப்பட்ட ஆற்றலால்தான்.</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Surapadman devas terrorized ancient Tamil mythology illustration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6446520"/>
            <a:ext cx="292608" cy="91440"/>
          </a:xfrm>
          <a:prstGeom prst="diamond">
            <a:avLst/>
          </a:prstGeom>
          <a:solidFill>
            <a:srgbClr val="D4AF37">
              <a:alpha val="80000"/>
            </a:srgbClr>
          </a:solidFill>
          <a:ln/>
        </p:spPr>
      </p:sp>
      <p:sp>
        <p:nvSpPr>
          <p:cNvPr id="6" name="Shape 4"/>
          <p:cNvSpPr/>
          <p:nvPr/>
        </p:nvSpPr>
        <p:spPr>
          <a:xfrm rot="-8100000">
            <a:off x="11420856" y="6323076"/>
            <a:ext cx="219456" cy="68580"/>
          </a:xfrm>
          <a:prstGeom prst="diamond">
            <a:avLst/>
          </a:prstGeom>
          <a:solidFill>
            <a:srgbClr val="D4AF37">
              <a:alpha val="80000"/>
            </a:srgbClr>
          </a:solidFill>
          <a:ln/>
        </p:spPr>
      </p:sp>
      <p:sp>
        <p:nvSpPr>
          <p:cNvPr id="7" name="Shape 5"/>
          <p:cNvSpPr/>
          <p:nvPr/>
        </p:nvSpPr>
        <p:spPr>
          <a:xfrm rot="-8100000">
            <a:off x="11320272" y="6176772"/>
            <a:ext cx="155448" cy="50292"/>
          </a:xfrm>
          <a:prstGeom prst="diamond">
            <a:avLst/>
          </a:prstGeom>
          <a:solidFill>
            <a:srgbClr val="D4AF37">
              <a:alpha val="80000"/>
            </a:srgbClr>
          </a:solidFill>
          <a:ln/>
        </p:spPr>
      </p:sp>
      <p:sp>
        <p:nvSpPr>
          <p:cNvPr id="8" name="Shape 6"/>
          <p:cNvSpPr/>
          <p:nvPr/>
        </p:nvSpPr>
        <p:spPr>
          <a:xfrm>
            <a:off x="10835640" y="320040"/>
            <a:ext cx="777240" cy="777240"/>
          </a:xfrm>
          <a:prstGeom prst="ellipse">
            <a:avLst/>
          </a:prstGeom>
          <a:solidFill>
            <a:srgbClr val="0E6F5C">
              <a:alpha val="90000"/>
            </a:srgbClr>
          </a:solidFill>
          <a:ln w="12700">
            <a:solidFill>
              <a:srgbClr val="D4AF37"/>
            </a:solidFill>
            <a:prstDash val="solid"/>
          </a:ln>
        </p:spPr>
      </p:sp>
      <p:sp>
        <p:nvSpPr>
          <p:cNvPr id="9" name="Shape 7"/>
          <p:cNvSpPr/>
          <p:nvPr/>
        </p:nvSpPr>
        <p:spPr>
          <a:xfrm>
            <a:off x="10928909" y="413309"/>
            <a:ext cx="590702" cy="590702"/>
          </a:xfrm>
          <a:prstGeom prst="ellipse">
            <a:avLst/>
          </a:prstGeom>
          <a:solidFill>
            <a:srgbClr val="D4AF37">
              <a:alpha val="85000"/>
            </a:srgbClr>
          </a:solidFill>
          <a:ln/>
        </p:spPr>
      </p:sp>
      <p:sp>
        <p:nvSpPr>
          <p:cNvPr id="10" name="Shape 8"/>
          <p:cNvSpPr/>
          <p:nvPr/>
        </p:nvSpPr>
        <p:spPr>
          <a:xfrm>
            <a:off x="11049381" y="533781"/>
            <a:ext cx="349758" cy="349758"/>
          </a:xfrm>
          <a:prstGeom prst="ellipse">
            <a:avLst/>
          </a:prstGeom>
          <a:solidFill>
            <a:srgbClr val="45050D"/>
          </a:solidFill>
          <a:ln/>
        </p:spPr>
      </p:sp>
      <p:sp>
        <p:nvSpPr>
          <p:cNvPr id="11" name="Shape 9"/>
          <p:cNvSpPr/>
          <p:nvPr/>
        </p:nvSpPr>
        <p:spPr>
          <a:xfrm>
            <a:off x="548640" y="2148840"/>
            <a:ext cx="2103120" cy="502920"/>
          </a:xfrm>
          <a:prstGeom prst="roundRect">
            <a:avLst>
              <a:gd name="adj" fmla="val 49091"/>
            </a:avLst>
          </a:prstGeom>
          <a:solidFill>
            <a:srgbClr val="D4AF37"/>
          </a:solidFill>
          <a:ln/>
        </p:spPr>
      </p:sp>
      <p:sp>
        <p:nvSpPr>
          <p:cNvPr id="12" name="Text 10"/>
          <p:cNvSpPr/>
          <p:nvPr/>
        </p:nvSpPr>
        <p:spPr>
          <a:xfrm>
            <a:off x="548640" y="2148840"/>
            <a:ext cx="2103120" cy="502920"/>
          </a:xfrm>
          <a:prstGeom prst="rect">
            <a:avLst/>
          </a:prstGeom>
          <a:noFill/>
          <a:ln/>
        </p:spPr>
        <p:txBody>
          <a:bodyPr wrap="square" lIns="0" tIns="0" rIns="0" bIns="0" rtlCol="0" anchor="ctr"/>
          <a:lstStyle/>
          <a:p>
            <a:pPr algn="ctr" indent="0" marL="0">
              <a:buNone/>
            </a:pPr>
            <a:r>
              <a:rPr lang="en-US" sz="1600" b="1" dirty="0">
                <a:solidFill>
                  <a:srgbClr val="45050D"/>
                </a:solidFill>
                <a:latin typeface="Latha" pitchFamily="34" charset="0"/>
                <a:ea typeface="Latha" pitchFamily="34" charset="-122"/>
                <a:cs typeface="Latha" pitchFamily="34" charset="-120"/>
              </a:rPr>
              <a:t>இயல் 3</a:t>
            </a:r>
            <a:endParaRPr lang="en-US" sz="1600" dirty="0"/>
          </a:p>
        </p:txBody>
      </p:sp>
      <p:sp>
        <p:nvSpPr>
          <p:cNvPr id="13" name="Text 11"/>
          <p:cNvSpPr/>
          <p:nvPr/>
        </p:nvSpPr>
        <p:spPr>
          <a:xfrm>
            <a:off x="548640" y="2788920"/>
            <a:ext cx="7040880" cy="1463040"/>
          </a:xfrm>
          <a:prstGeom prst="rect">
            <a:avLst/>
          </a:prstGeom>
          <a:noFill/>
          <a:ln/>
        </p:spPr>
        <p:txBody>
          <a:bodyPr wrap="square" lIns="0" tIns="0" rIns="0" bIns="0" rtlCol="0" anchor="ctr"/>
          <a:lstStyle/>
          <a:p>
            <a:pPr indent="0" marL="0">
              <a:lnSpc>
                <a:spcPct val="110000"/>
              </a:lnSpc>
              <a:buNone/>
            </a:pPr>
            <a:r>
              <a:rPr lang="en-US" sz="3800" b="1" dirty="0">
                <a:solidFill>
                  <a:srgbClr val="FFF9F0"/>
                </a:solidFill>
                <a:latin typeface="Latha" pitchFamily="34" charset="0"/>
                <a:ea typeface="Latha" pitchFamily="34" charset="-122"/>
                <a:cs typeface="Latha" pitchFamily="34" charset="-120"/>
              </a:rPr>
              <a:t>புராணக் கதைகள்</a:t>
            </a:r>
            <a:endParaRPr lang="en-US" sz="3800" dirty="0"/>
          </a:p>
        </p:txBody>
      </p:sp>
      <p:sp>
        <p:nvSpPr>
          <p:cNvPr id="14" name="Text 12"/>
          <p:cNvSpPr/>
          <p:nvPr/>
        </p:nvSpPr>
        <p:spPr>
          <a:xfrm>
            <a:off x="548640" y="4160520"/>
            <a:ext cx="6766560" cy="548640"/>
          </a:xfrm>
          <a:prstGeom prst="rect">
            <a:avLst/>
          </a:prstGeom>
          <a:noFill/>
          <a:ln/>
        </p:spPr>
        <p:txBody>
          <a:bodyPr wrap="square" lIns="0" tIns="0" rIns="0" bIns="0" rtlCol="0" anchor="ctr"/>
          <a:lstStyle/>
          <a:p>
            <a:pPr indent="0" marL="0">
              <a:buNone/>
            </a:pPr>
            <a:r>
              <a:rPr lang="en-US" sz="1500" i="1" dirty="0">
                <a:solidFill>
                  <a:srgbClr val="D4AF37"/>
                </a:solidFill>
                <a:latin typeface="Latha" pitchFamily="34" charset="0"/>
                <a:ea typeface="Latha" pitchFamily="34" charset="-122"/>
                <a:cs typeface="Latha" pitchFamily="34" charset="-120"/>
              </a:rPr>
              <a:t>12 வயதுக்கு ஏற்ப தழுவிய கதைகள்</a:t>
            </a:r>
            <a:endParaRPr lang="en-US" sz="1500" dirty="0"/>
          </a:p>
        </p:txBody>
      </p:sp>
      <p:sp>
        <p:nvSpPr>
          <p:cNvPr id="15" name="Shape 13"/>
          <p:cNvSpPr/>
          <p:nvPr/>
        </p:nvSpPr>
        <p:spPr>
          <a:xfrm>
            <a:off x="7863840" y="1371600"/>
            <a:ext cx="3749040" cy="4206240"/>
          </a:xfrm>
          <a:prstGeom prst="roundRect">
            <a:avLst>
              <a:gd name="adj" fmla="val 1951"/>
            </a:avLst>
          </a:prstGeom>
          <a:solidFill>
            <a:srgbClr val="FFFFFF">
              <a:alpha val="70000"/>
            </a:srgbClr>
          </a:solidFill>
          <a:ln w="19050">
            <a:solidFill>
              <a:srgbClr val="5C636D"/>
            </a:solidFill>
            <a:prstDash val="dash"/>
          </a:ln>
        </p:spPr>
      </p:sp>
      <p:sp>
        <p:nvSpPr>
          <p:cNvPr id="16" name="Shape 14"/>
          <p:cNvSpPr/>
          <p:nvPr/>
        </p:nvSpPr>
        <p:spPr>
          <a:xfrm>
            <a:off x="9486900" y="1627632"/>
            <a:ext cx="502920" cy="365760"/>
          </a:xfrm>
          <a:prstGeom prst="roundRect">
            <a:avLst>
              <a:gd name="adj" fmla="val 7500"/>
            </a:avLst>
          </a:prstGeom>
          <a:ln w="19050">
            <a:solidFill>
              <a:srgbClr val="5C636D"/>
            </a:solidFill>
            <a:prstDash val="solid"/>
          </a:ln>
        </p:spPr>
      </p:sp>
      <p:sp>
        <p:nvSpPr>
          <p:cNvPr id="17" name="Shape 15"/>
          <p:cNvSpPr/>
          <p:nvPr/>
        </p:nvSpPr>
        <p:spPr>
          <a:xfrm>
            <a:off x="9541764" y="1682496"/>
            <a:ext cx="82296" cy="82296"/>
          </a:xfrm>
          <a:prstGeom prst="ellipse">
            <a:avLst/>
          </a:prstGeom>
          <a:solidFill>
            <a:srgbClr val="5C636D"/>
          </a:solidFill>
          <a:ln/>
        </p:spPr>
      </p:sp>
      <p:sp>
        <p:nvSpPr>
          <p:cNvPr id="18" name="Shape 16"/>
          <p:cNvSpPr/>
          <p:nvPr/>
        </p:nvSpPr>
        <p:spPr>
          <a:xfrm>
            <a:off x="9633204" y="1755648"/>
            <a:ext cx="292608" cy="182880"/>
          </a:xfrm>
          <a:prstGeom prst="triangle">
            <a:avLst/>
          </a:prstGeom>
          <a:solidFill>
            <a:srgbClr val="5C636D"/>
          </a:solidFill>
          <a:ln/>
        </p:spPr>
      </p:sp>
      <p:sp>
        <p:nvSpPr>
          <p:cNvPr id="19" name="Text 17"/>
          <p:cNvSpPr/>
          <p:nvPr/>
        </p:nvSpPr>
        <p:spPr>
          <a:xfrm>
            <a:off x="8001000" y="2103120"/>
            <a:ext cx="347472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20" name="Text 18"/>
          <p:cNvSpPr/>
          <p:nvPr/>
        </p:nvSpPr>
        <p:spPr>
          <a:xfrm>
            <a:off x="8046720" y="2450592"/>
            <a:ext cx="338328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peacock rooster vel spear Murugan iconography symbolic</a:t>
            </a:r>
            <a:endParaRPr lang="en-US" sz="1000" dirty="0"/>
          </a:p>
        </p:txBody>
      </p:sp>
      <p:sp>
        <p:nvSpPr>
          <p:cNvPr id="21" name="Text 19"/>
          <p:cNvSpPr/>
          <p:nvPr/>
        </p:nvSpPr>
        <p:spPr>
          <a:xfrm>
            <a:off x="8046720" y="3319272"/>
            <a:ext cx="3383280" cy="212140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A stylized, colorful peacock and rooster standing beside a golden spear, symbolic storybook illustration, bright and cheerful, no violent imagery, suitable for children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7A1620">
              <a:alpha val="80000"/>
            </a:srgbClr>
          </a:solidFill>
          <a:ln/>
        </p:spPr>
      </p:sp>
      <p:sp>
        <p:nvSpPr>
          <p:cNvPr id="3" name="Shape 1"/>
          <p:cNvSpPr/>
          <p:nvPr/>
        </p:nvSpPr>
        <p:spPr>
          <a:xfrm rot="2700000">
            <a:off x="521208" y="466344"/>
            <a:ext cx="219456" cy="68580"/>
          </a:xfrm>
          <a:prstGeom prst="diamond">
            <a:avLst/>
          </a:prstGeom>
          <a:solidFill>
            <a:srgbClr val="7A1620">
              <a:alpha val="80000"/>
            </a:srgbClr>
          </a:solidFill>
          <a:ln/>
        </p:spPr>
      </p:sp>
      <p:sp>
        <p:nvSpPr>
          <p:cNvPr id="4" name="Shape 2"/>
          <p:cNvSpPr/>
          <p:nvPr/>
        </p:nvSpPr>
        <p:spPr>
          <a:xfrm rot="2700000">
            <a:off x="685800" y="630936"/>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சூரசம்ஹாரம்</a:t>
            </a:r>
            <a:endParaRPr lang="en-US" sz="1350" dirty="0"/>
          </a:p>
        </p:txBody>
      </p:sp>
      <p:sp>
        <p:nvSpPr>
          <p:cNvPr id="7" name="Text 5"/>
          <p:cNvSpPr/>
          <p:nvPr/>
        </p:nvSpPr>
        <p:spPr>
          <a:xfrm>
            <a:off x="548640" y="1097280"/>
            <a:ext cx="11064240" cy="685800"/>
          </a:xfrm>
          <a:prstGeom prst="rect">
            <a:avLst/>
          </a:prstGeom>
          <a:noFill/>
          <a:ln/>
        </p:spPr>
        <p:txBody>
          <a:bodyPr wrap="square" lIns="0" tIns="0" rIns="0" bIns="0" rtlCol="0" anchor="ctr"/>
          <a:lstStyle/>
          <a:p>
            <a:pPr indent="0" marL="0">
              <a:buNone/>
            </a:pPr>
            <a:r>
              <a:rPr lang="en-US" sz="2500" b="1" dirty="0">
                <a:solidFill>
                  <a:srgbClr val="7A1620"/>
                </a:solidFill>
                <a:latin typeface="Latha" pitchFamily="34" charset="0"/>
                <a:ea typeface="Latha" pitchFamily="34" charset="-122"/>
                <a:cs typeface="Latha" pitchFamily="34" charset="-120"/>
              </a:rPr>
              <a:t>வேல் பிளந்த மரம்</a:t>
            </a:r>
            <a:endParaRPr lang="en-US" sz="2500" dirty="0"/>
          </a:p>
        </p:txBody>
      </p:sp>
      <p:sp>
        <p:nvSpPr>
          <p:cNvPr id="8" name="Text 6"/>
          <p:cNvSpPr/>
          <p:nvPr/>
        </p:nvSpPr>
        <p:spPr>
          <a:xfrm>
            <a:off x="548640" y="1874520"/>
            <a:ext cx="6263640" cy="3246120"/>
          </a:xfrm>
          <a:prstGeom prst="rect">
            <a:avLst/>
          </a:prstGeom>
          <a:noFill/>
          <a:ln/>
        </p:spPr>
        <p:txBody>
          <a:bodyPr wrap="square" lIns="0" tIns="0" rIns="0" bIns="0" rtlCol="0" anchor="t"/>
          <a:lstStyle/>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இளைஞனாக இருந்தும், முருகன் தேவர்களின் படையை வழிநடத்தி சூரபத்மனை எதிர்கொண்டார். அவரிடம் இருந்த வேல் அவரது தாய் பார்வதியின் ஞானமும் சக்தியும் நிறைந்தது.</a:t>
            </a:r>
            <a:endParaRPr lang="en-US" sz="1350" dirty="0"/>
          </a:p>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போரின் இறுதியில், முருகன் சூரபத்மனை அழிக்கவில்லை — மாறாக, அவனை ஒரு பெரிய மாமரமாக மாற்றி, தன் வேலால் அதை இரண்டாகப் பிளந்தார். அதிலிருந்து ஒரு மயிலும் ஒரு சேவலும் தோன்றின.</a:t>
            </a:r>
            <a:endParaRPr lang="en-US" sz="1350" dirty="0"/>
          </a:p>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முருகன் அந்த மயிலைத் தன் வாகனமாகவும், சேவலைத் தன் கொடியின் சின்னமாகவும் ஏற்றுக் கொண்டார்.</a:t>
            </a:r>
            <a:endParaRPr lang="en-US" sz="1350" dirty="0"/>
          </a:p>
        </p:txBody>
      </p:sp>
      <p:sp>
        <p:nvSpPr>
          <p:cNvPr id="9" name="Shape 7"/>
          <p:cNvSpPr/>
          <p:nvPr/>
        </p:nvSpPr>
        <p:spPr>
          <a:xfrm>
            <a:off x="548640" y="5257800"/>
            <a:ext cx="6263640" cy="1051560"/>
          </a:xfrm>
          <a:prstGeom prst="roundRect">
            <a:avLst>
              <a:gd name="adj" fmla="val 8696"/>
            </a:avLst>
          </a:prstGeom>
          <a:solidFill>
            <a:srgbClr val="0E6F5C"/>
          </a:solidFill>
          <a:ln/>
        </p:spPr>
      </p:sp>
      <p:sp>
        <p:nvSpPr>
          <p:cNvPr id="10" name="Text 8"/>
          <p:cNvSpPr/>
          <p:nvPr/>
        </p:nvSpPr>
        <p:spPr>
          <a:xfrm>
            <a:off x="777240" y="5257800"/>
            <a:ext cx="5806440" cy="1051560"/>
          </a:xfrm>
          <a:prstGeom prst="rect">
            <a:avLst/>
          </a:prstGeom>
          <a:noFill/>
          <a:ln/>
        </p:spPr>
        <p:txBody>
          <a:bodyPr wrap="square" lIns="0" tIns="0" rIns="0" bIns="0" rtlCol="0" anchor="ctr"/>
          <a:lstStyle/>
          <a:p>
            <a:pPr algn="l" indent="0" marL="0">
              <a:lnSpc>
                <a:spcPct val="115000"/>
              </a:lnSpc>
              <a:buNone/>
            </a:pPr>
            <a:r>
              <a:rPr lang="en-US" sz="1250" b="1" dirty="0">
                <a:solidFill>
                  <a:srgbClr val="D4AF37"/>
                </a:solidFill>
                <a:latin typeface="Latha" pitchFamily="34" charset="0"/>
                <a:ea typeface="Latha" pitchFamily="34" charset="-122"/>
                <a:cs typeface="Latha" pitchFamily="34" charset="-120"/>
              </a:rPr>
              <a:t>படிப்பினை:  </a:t>
            </a:r>
            <a:pPr algn="l" indent="0" marL="0">
              <a:lnSpc>
                <a:spcPct val="115000"/>
              </a:lnSpc>
              <a:buNone/>
            </a:pPr>
            <a:r>
              <a:rPr lang="en-US" sz="1250" dirty="0">
                <a:solidFill>
                  <a:srgbClr val="FFFFFF"/>
                </a:solidFill>
                <a:latin typeface="Latha" pitchFamily="34" charset="0"/>
                <a:ea typeface="Latha" pitchFamily="34" charset="-122"/>
                <a:cs typeface="Latha" pitchFamily="34" charset="-120"/>
              </a:rPr>
              <a:t>உண்மையான வலிமை என்பது எதிரியை அழிப்பதில் இல்லை — அதை ஒரு பயனுள்ள, அழகான ஒன்றாக மாற்றுவதில்தான் இருக்கிறது.</a:t>
            </a:r>
            <a:endParaRPr lang="en-US" sz="1250" dirty="0"/>
          </a:p>
        </p:txBody>
      </p:sp>
      <p:sp>
        <p:nvSpPr>
          <p:cNvPr id="11" name="Shape 9"/>
          <p:cNvSpPr/>
          <p:nvPr/>
        </p:nvSpPr>
        <p:spPr>
          <a:xfrm>
            <a:off x="7086600" y="1097280"/>
            <a:ext cx="4526280" cy="5212080"/>
          </a:xfrm>
          <a:prstGeom prst="roundRect">
            <a:avLst>
              <a:gd name="adj" fmla="val 1616"/>
            </a:avLst>
          </a:prstGeom>
          <a:solidFill>
            <a:srgbClr val="FFFFFF">
              <a:alpha val="70000"/>
            </a:srgbClr>
          </a:solidFill>
          <a:ln w="19050">
            <a:solidFill>
              <a:srgbClr val="5C636D"/>
            </a:solidFill>
            <a:prstDash val="dash"/>
          </a:ln>
        </p:spPr>
      </p:sp>
      <p:sp>
        <p:nvSpPr>
          <p:cNvPr id="12" name="Shape 10"/>
          <p:cNvSpPr/>
          <p:nvPr/>
        </p:nvSpPr>
        <p:spPr>
          <a:xfrm>
            <a:off x="9098280" y="1353312"/>
            <a:ext cx="502920" cy="365760"/>
          </a:xfrm>
          <a:prstGeom prst="roundRect">
            <a:avLst>
              <a:gd name="adj" fmla="val 7500"/>
            </a:avLst>
          </a:prstGeom>
          <a:ln w="19050">
            <a:solidFill>
              <a:srgbClr val="5C636D"/>
            </a:solidFill>
            <a:prstDash val="solid"/>
          </a:ln>
        </p:spPr>
      </p:sp>
      <p:sp>
        <p:nvSpPr>
          <p:cNvPr id="13" name="Shape 11"/>
          <p:cNvSpPr/>
          <p:nvPr/>
        </p:nvSpPr>
        <p:spPr>
          <a:xfrm>
            <a:off x="9153144" y="1408176"/>
            <a:ext cx="82296" cy="82296"/>
          </a:xfrm>
          <a:prstGeom prst="ellipse">
            <a:avLst/>
          </a:prstGeom>
          <a:solidFill>
            <a:srgbClr val="5C636D"/>
          </a:solidFill>
          <a:ln/>
        </p:spPr>
      </p:sp>
      <p:sp>
        <p:nvSpPr>
          <p:cNvPr id="14" name="Shape 12"/>
          <p:cNvSpPr/>
          <p:nvPr/>
        </p:nvSpPr>
        <p:spPr>
          <a:xfrm>
            <a:off x="9244584" y="1481328"/>
            <a:ext cx="292608" cy="182880"/>
          </a:xfrm>
          <a:prstGeom prst="triangle">
            <a:avLst/>
          </a:prstGeom>
          <a:solidFill>
            <a:srgbClr val="5C636D"/>
          </a:solidFill>
          <a:ln/>
        </p:spPr>
      </p:sp>
      <p:sp>
        <p:nvSpPr>
          <p:cNvPr id="15" name="Text 13"/>
          <p:cNvSpPr/>
          <p:nvPr/>
        </p:nvSpPr>
        <p:spPr>
          <a:xfrm>
            <a:off x="7223760" y="1828800"/>
            <a:ext cx="425196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6" name="Text 14"/>
          <p:cNvSpPr/>
          <p:nvPr/>
        </p:nvSpPr>
        <p:spPr>
          <a:xfrm>
            <a:off x="7269480" y="2176272"/>
            <a:ext cx="416052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mango tree split peacock rooster Murugan vel story</a:t>
            </a:r>
            <a:endParaRPr lang="en-US" sz="1000" dirty="0"/>
          </a:p>
        </p:txBody>
      </p:sp>
      <p:sp>
        <p:nvSpPr>
          <p:cNvPr id="17" name="Text 15"/>
          <p:cNvSpPr/>
          <p:nvPr/>
        </p:nvSpPr>
        <p:spPr>
          <a:xfrm>
            <a:off x="7269480" y="3044952"/>
            <a:ext cx="4160520" cy="312724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A magical golden mango tree gently splitting into a beautiful peacock and a bright rooster, sparkling light effects, colorful storybook illustration, whimsical and non-violent, appropriate for a 12-year-old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மயில் வாகனம்</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மயிலின் அடிக்கு அடங்கிய பாம்பு</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பழைய கோவிலின் சிற்பங்களில் மயில் ஒரு பாம்பை தன் காலடியில் அடக்கி நிற்கும் காட்சி பொதுவாகக் காணப்படும்.</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பாம்பு = கட்டுப்பாடற்ற ஆசை, பேராசை, கோபம் போன்ற உணர்வுகளின் சின்னம். மயில் (முருகனின் வாகனம்) = பயிற்சி பெற்ற, கட்டுப்படுத்தப்பட்ட மனதின் சின்னம்.</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எனவே மயிலின் மேல் அமர்ந்திருக்கும் முருகன், "தன்னுடைய சொந்த உணர்வுகளை வெல்பவன்" என்பதைக் குறிக்கிறார் — வெளியிலுள்ள எதிரியை மட்டுமல்ல.</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peacock standing over snake temple sculpture symbolism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7A1620">
              <a:alpha val="80000"/>
            </a:srgbClr>
          </a:solidFill>
          <a:ln/>
        </p:spPr>
      </p:sp>
      <p:sp>
        <p:nvSpPr>
          <p:cNvPr id="3" name="Shape 1"/>
          <p:cNvSpPr/>
          <p:nvPr/>
        </p:nvSpPr>
        <p:spPr>
          <a:xfrm rot="2700000">
            <a:off x="521208" y="466344"/>
            <a:ext cx="219456" cy="68580"/>
          </a:xfrm>
          <a:prstGeom prst="diamond">
            <a:avLst/>
          </a:prstGeom>
          <a:solidFill>
            <a:srgbClr val="7A1620">
              <a:alpha val="80000"/>
            </a:srgbClr>
          </a:solidFill>
          <a:ln/>
        </p:spPr>
      </p:sp>
      <p:sp>
        <p:nvSpPr>
          <p:cNvPr id="4" name="Shape 2"/>
          <p:cNvSpPr/>
          <p:nvPr/>
        </p:nvSpPr>
        <p:spPr>
          <a:xfrm rot="2700000">
            <a:off x="685800" y="630936"/>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மாங்கனிப் போட்டி</a:t>
            </a:r>
            <a:endParaRPr lang="en-US" sz="1350" dirty="0"/>
          </a:p>
        </p:txBody>
      </p:sp>
      <p:sp>
        <p:nvSpPr>
          <p:cNvPr id="7" name="Text 5"/>
          <p:cNvSpPr/>
          <p:nvPr/>
        </p:nvSpPr>
        <p:spPr>
          <a:xfrm>
            <a:off x="548640" y="1097280"/>
            <a:ext cx="11064240" cy="685800"/>
          </a:xfrm>
          <a:prstGeom prst="rect">
            <a:avLst/>
          </a:prstGeom>
          <a:noFill/>
          <a:ln/>
        </p:spPr>
        <p:txBody>
          <a:bodyPr wrap="square" lIns="0" tIns="0" rIns="0" bIns="0" rtlCol="0" anchor="ctr"/>
          <a:lstStyle/>
          <a:p>
            <a:pPr indent="0" marL="0">
              <a:buNone/>
            </a:pPr>
            <a:r>
              <a:rPr lang="en-US" sz="2500" b="1" dirty="0">
                <a:solidFill>
                  <a:srgbClr val="7A1620"/>
                </a:solidFill>
                <a:latin typeface="Latha" pitchFamily="34" charset="0"/>
                <a:ea typeface="Latha" pitchFamily="34" charset="-122"/>
                <a:cs typeface="Latha" pitchFamily="34" charset="-120"/>
              </a:rPr>
              <a:t>ஞானம் வென்ற பந்தயம்</a:t>
            </a:r>
            <a:endParaRPr lang="en-US" sz="2500" dirty="0"/>
          </a:p>
        </p:txBody>
      </p:sp>
      <p:sp>
        <p:nvSpPr>
          <p:cNvPr id="8" name="Text 6"/>
          <p:cNvSpPr/>
          <p:nvPr/>
        </p:nvSpPr>
        <p:spPr>
          <a:xfrm>
            <a:off x="548640" y="1874520"/>
            <a:ext cx="6263640" cy="3246120"/>
          </a:xfrm>
          <a:prstGeom prst="rect">
            <a:avLst/>
          </a:prstGeom>
          <a:noFill/>
          <a:ln/>
        </p:spPr>
        <p:txBody>
          <a:bodyPr wrap="square" lIns="0" tIns="0" rIns="0" bIns="0" rtlCol="0" anchor="t"/>
          <a:lstStyle/>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ஒரு சிறப்பான மாம்பழத்தைப் பெறுவதற்காக, கணேசனும் முருகனும் உலகைச் சுற்றி முதலில் வருபவர் யார் என்று போட்டியிட்டனர்.</a:t>
            </a:r>
            <a:endParaRPr lang="en-US" sz="1350" dirty="0"/>
          </a:p>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வேகமும் ஆர்வமும் மிக்க முருகன் உடனே தன் மயிலில் ஏறி உலகைச் சுற்றப் புறப்பட்டார். ஆனால் புத்திசாலியான கணேசன், "நீங்கள் இருவருமே எனக்கு முழு உலகம்" என்று சொல்லி, தன் பெற்றோர்களான சிவனையும் பார்வதியையும் மட்டும் சுற்றி வந்தார் — அதனால் அவரே வென்றார்.</a:t>
            </a:r>
            <a:endParaRPr lang="en-US" sz="1350" dirty="0"/>
          </a:p>
          <a:p>
            <a:pPr algn="l" indent="0" marL="0">
              <a:lnSpc>
                <a:spcPct val="120000"/>
              </a:lnSpc>
              <a:spcAft>
                <a:spcPts val="1000"/>
              </a:spcAft>
              <a:buNone/>
            </a:pPr>
            <a:r>
              <a:rPr lang="en-US" sz="1350" dirty="0">
                <a:solidFill>
                  <a:srgbClr val="2B0A0A"/>
                </a:solidFill>
                <a:latin typeface="Latha" pitchFamily="34" charset="0"/>
                <a:ea typeface="Latha" pitchFamily="34" charset="-122"/>
                <a:cs typeface="Latha" pitchFamily="34" charset="-120"/>
              </a:rPr>
              <a:t>முருகன் திரும்பி வந்து இதை அறிந்தபோது, தோல்வியைச் சரியான முறையில் ஏற்று, சிந்திக்க தனியாகச் சென்றார். அந்தப் பயணமே பின்னாளில் அவர் தமிழகம் முழுவதும் பரவுவதற்கு வழிவகுத்தது.</a:t>
            </a:r>
            <a:endParaRPr lang="en-US" sz="1350" dirty="0"/>
          </a:p>
        </p:txBody>
      </p:sp>
      <p:sp>
        <p:nvSpPr>
          <p:cNvPr id="9" name="Shape 7"/>
          <p:cNvSpPr/>
          <p:nvPr/>
        </p:nvSpPr>
        <p:spPr>
          <a:xfrm>
            <a:off x="548640" y="5257800"/>
            <a:ext cx="6263640" cy="1051560"/>
          </a:xfrm>
          <a:prstGeom prst="roundRect">
            <a:avLst>
              <a:gd name="adj" fmla="val 8696"/>
            </a:avLst>
          </a:prstGeom>
          <a:solidFill>
            <a:srgbClr val="0E6F5C"/>
          </a:solidFill>
          <a:ln/>
        </p:spPr>
      </p:sp>
      <p:sp>
        <p:nvSpPr>
          <p:cNvPr id="10" name="Text 8"/>
          <p:cNvSpPr/>
          <p:nvPr/>
        </p:nvSpPr>
        <p:spPr>
          <a:xfrm>
            <a:off x="777240" y="5257800"/>
            <a:ext cx="5806440" cy="1051560"/>
          </a:xfrm>
          <a:prstGeom prst="rect">
            <a:avLst/>
          </a:prstGeom>
          <a:noFill/>
          <a:ln/>
        </p:spPr>
        <p:txBody>
          <a:bodyPr wrap="square" lIns="0" tIns="0" rIns="0" bIns="0" rtlCol="0" anchor="ctr"/>
          <a:lstStyle/>
          <a:p>
            <a:pPr algn="l" indent="0" marL="0">
              <a:lnSpc>
                <a:spcPct val="115000"/>
              </a:lnSpc>
              <a:buNone/>
            </a:pPr>
            <a:r>
              <a:rPr lang="en-US" sz="1250" b="1" dirty="0">
                <a:solidFill>
                  <a:srgbClr val="D4AF37"/>
                </a:solidFill>
                <a:latin typeface="Latha" pitchFamily="34" charset="0"/>
                <a:ea typeface="Latha" pitchFamily="34" charset="-122"/>
                <a:cs typeface="Latha" pitchFamily="34" charset="-120"/>
              </a:rPr>
              <a:t>படிப்பினை:  </a:t>
            </a:r>
            <a:pPr algn="l" indent="0" marL="0">
              <a:lnSpc>
                <a:spcPct val="115000"/>
              </a:lnSpc>
              <a:buNone/>
            </a:pPr>
            <a:r>
              <a:rPr lang="en-US" sz="1250" dirty="0">
                <a:solidFill>
                  <a:srgbClr val="FFFFFF"/>
                </a:solidFill>
                <a:latin typeface="Latha" pitchFamily="34" charset="0"/>
                <a:ea typeface="Latha" pitchFamily="34" charset="-122"/>
                <a:cs typeface="Latha" pitchFamily="34" charset="-120"/>
              </a:rPr>
              <a:t>வெறும் வேகமும் முயற்சியும் மட்டுமல்ல, புத்திசாலித்தனமும் அமைதியும்தான் சில நேரங்களில் வெற்றியைத் தரும்; தோல்வியை நேர்மையாக ஏற்பதும் ஒரு வளர்ச்சிப் பாதைதான்.</a:t>
            </a:r>
            <a:endParaRPr lang="en-US" sz="1250" dirty="0"/>
          </a:p>
        </p:txBody>
      </p:sp>
      <p:sp>
        <p:nvSpPr>
          <p:cNvPr id="11" name="Shape 9"/>
          <p:cNvSpPr/>
          <p:nvPr/>
        </p:nvSpPr>
        <p:spPr>
          <a:xfrm>
            <a:off x="7086600" y="1097280"/>
            <a:ext cx="4526280" cy="5212080"/>
          </a:xfrm>
          <a:prstGeom prst="roundRect">
            <a:avLst>
              <a:gd name="adj" fmla="val 1616"/>
            </a:avLst>
          </a:prstGeom>
          <a:solidFill>
            <a:srgbClr val="FFFFFF">
              <a:alpha val="70000"/>
            </a:srgbClr>
          </a:solidFill>
          <a:ln w="19050">
            <a:solidFill>
              <a:srgbClr val="5C636D"/>
            </a:solidFill>
            <a:prstDash val="dash"/>
          </a:ln>
        </p:spPr>
      </p:sp>
      <p:sp>
        <p:nvSpPr>
          <p:cNvPr id="12" name="Shape 10"/>
          <p:cNvSpPr/>
          <p:nvPr/>
        </p:nvSpPr>
        <p:spPr>
          <a:xfrm>
            <a:off x="9098280" y="1353312"/>
            <a:ext cx="502920" cy="365760"/>
          </a:xfrm>
          <a:prstGeom prst="roundRect">
            <a:avLst>
              <a:gd name="adj" fmla="val 7500"/>
            </a:avLst>
          </a:prstGeom>
          <a:ln w="19050">
            <a:solidFill>
              <a:srgbClr val="5C636D"/>
            </a:solidFill>
            <a:prstDash val="solid"/>
          </a:ln>
        </p:spPr>
      </p:sp>
      <p:sp>
        <p:nvSpPr>
          <p:cNvPr id="13" name="Shape 11"/>
          <p:cNvSpPr/>
          <p:nvPr/>
        </p:nvSpPr>
        <p:spPr>
          <a:xfrm>
            <a:off x="9153144" y="1408176"/>
            <a:ext cx="82296" cy="82296"/>
          </a:xfrm>
          <a:prstGeom prst="ellipse">
            <a:avLst/>
          </a:prstGeom>
          <a:solidFill>
            <a:srgbClr val="5C636D"/>
          </a:solidFill>
          <a:ln/>
        </p:spPr>
      </p:sp>
      <p:sp>
        <p:nvSpPr>
          <p:cNvPr id="14" name="Shape 12"/>
          <p:cNvSpPr/>
          <p:nvPr/>
        </p:nvSpPr>
        <p:spPr>
          <a:xfrm>
            <a:off x="9244584" y="1481328"/>
            <a:ext cx="292608" cy="182880"/>
          </a:xfrm>
          <a:prstGeom prst="triangle">
            <a:avLst/>
          </a:prstGeom>
          <a:solidFill>
            <a:srgbClr val="5C636D"/>
          </a:solidFill>
          <a:ln/>
        </p:spPr>
      </p:sp>
      <p:sp>
        <p:nvSpPr>
          <p:cNvPr id="15" name="Text 13"/>
          <p:cNvSpPr/>
          <p:nvPr/>
        </p:nvSpPr>
        <p:spPr>
          <a:xfrm>
            <a:off x="7223760" y="1828800"/>
            <a:ext cx="425196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6" name="Text 14"/>
          <p:cNvSpPr/>
          <p:nvPr/>
        </p:nvSpPr>
        <p:spPr>
          <a:xfrm>
            <a:off x="7269480" y="2176272"/>
            <a:ext cx="416052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Ganesha Murugan mango race story illustration</a:t>
            </a:r>
            <a:endParaRPr lang="en-US" sz="1000" dirty="0"/>
          </a:p>
        </p:txBody>
      </p:sp>
      <p:sp>
        <p:nvSpPr>
          <p:cNvPr id="17" name="Text 15"/>
          <p:cNvSpPr/>
          <p:nvPr/>
        </p:nvSpPr>
        <p:spPr>
          <a:xfrm>
            <a:off x="7269480" y="3044952"/>
            <a:ext cx="4160520" cy="312724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A cheerful illustrated race scene: a small boy on a peacock flying off eagerly, while another calm boy simply walks around his smiling parents, warm golden storybook colors, gentle and humorous tone, appropriate for children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வள்ளியும் தெய்வானையும்</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உயர்ந்ததும் எளியதும் இணையும் இடம்</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முருகனுக்கு இரு துணைவியர்: தெய்வானை (தேவலோகத்தில் வளர்ந்த தேவி) மற்றும் வள்ளி (மலைவாழ் குடியில் வளர்ந்த எளிய பெண்).</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தெய்வானை = ஒழுங்கு, ஞானம், வான்புகழ் (வேல் போன்றது). வள்ளி = இயற்கை, எளிமை, பூமியின் அன்பு.</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இவ்விரு துணைவியரும் சேர்ந்து, முருகன் "உயர்ந்தோர்"க்கும் "எளியோர்"க்கும் ஒருங்கே சொந்தமான தெய்வம் என்பதைக் காட்டுகின்றனர் — அரசர் முதல் மலைவாழ் மக்கள் வரை அனைவரும் அவரை வழிபட்டதற்கு இதுவே காரணம்.</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Valli Deivanai Murugan family Tamil Nadu temple art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அறுபடை வீடு</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ஆறு புனித தலங்கள்</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முருகனின் வாழ்க்கைப் பயணத்தின் ஆறு முக்கியக் கட்டங்களைக் குறிக்கும் ஆறு கோவில்கள் தமிழகம் முழுவதும் உள்ளன — அறுபடை வீடு என்று அழைக்கப்படுகின்றன:</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பழனி · திருச்செந்தூர் · சுவாமிமலை · திருத்தணி · பழமுதிர்சோலை · திருப்பரங்குன்றம்</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ஒவ்வொரு தலமும் அவரது வாழ்வின் ஒரு அத்தியாயத்தைச் சொல்கிறது — இளமை, வெற்றி, ஞானம், துணிவு, காதல், அமைதி என பல்வேறு கோணங்களில்.</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Arupadai Veedu six Murugan temples Tamil Nadu map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6446520"/>
            <a:ext cx="292608" cy="91440"/>
          </a:xfrm>
          <a:prstGeom prst="diamond">
            <a:avLst/>
          </a:prstGeom>
          <a:solidFill>
            <a:srgbClr val="D4AF37">
              <a:alpha val="80000"/>
            </a:srgbClr>
          </a:solidFill>
          <a:ln/>
        </p:spPr>
      </p:sp>
      <p:sp>
        <p:nvSpPr>
          <p:cNvPr id="6" name="Shape 4"/>
          <p:cNvSpPr/>
          <p:nvPr/>
        </p:nvSpPr>
        <p:spPr>
          <a:xfrm rot="-8100000">
            <a:off x="11420856" y="6323076"/>
            <a:ext cx="219456" cy="68580"/>
          </a:xfrm>
          <a:prstGeom prst="diamond">
            <a:avLst/>
          </a:prstGeom>
          <a:solidFill>
            <a:srgbClr val="D4AF37">
              <a:alpha val="80000"/>
            </a:srgbClr>
          </a:solidFill>
          <a:ln/>
        </p:spPr>
      </p:sp>
      <p:sp>
        <p:nvSpPr>
          <p:cNvPr id="7" name="Shape 5"/>
          <p:cNvSpPr/>
          <p:nvPr/>
        </p:nvSpPr>
        <p:spPr>
          <a:xfrm rot="-8100000">
            <a:off x="11320272" y="6176772"/>
            <a:ext cx="155448" cy="50292"/>
          </a:xfrm>
          <a:prstGeom prst="diamond">
            <a:avLst/>
          </a:prstGeom>
          <a:solidFill>
            <a:srgbClr val="D4AF37">
              <a:alpha val="80000"/>
            </a:srgbClr>
          </a:solidFill>
          <a:ln/>
        </p:spPr>
      </p:sp>
      <p:sp>
        <p:nvSpPr>
          <p:cNvPr id="8" name="Shape 6"/>
          <p:cNvSpPr/>
          <p:nvPr/>
        </p:nvSpPr>
        <p:spPr>
          <a:xfrm>
            <a:off x="10835640" y="320040"/>
            <a:ext cx="777240" cy="777240"/>
          </a:xfrm>
          <a:prstGeom prst="ellipse">
            <a:avLst/>
          </a:prstGeom>
          <a:solidFill>
            <a:srgbClr val="0E6F5C">
              <a:alpha val="90000"/>
            </a:srgbClr>
          </a:solidFill>
          <a:ln w="12700">
            <a:solidFill>
              <a:srgbClr val="D4AF37"/>
            </a:solidFill>
            <a:prstDash val="solid"/>
          </a:ln>
        </p:spPr>
      </p:sp>
      <p:sp>
        <p:nvSpPr>
          <p:cNvPr id="9" name="Shape 7"/>
          <p:cNvSpPr/>
          <p:nvPr/>
        </p:nvSpPr>
        <p:spPr>
          <a:xfrm>
            <a:off x="10928909" y="413309"/>
            <a:ext cx="590702" cy="590702"/>
          </a:xfrm>
          <a:prstGeom prst="ellipse">
            <a:avLst/>
          </a:prstGeom>
          <a:solidFill>
            <a:srgbClr val="D4AF37">
              <a:alpha val="85000"/>
            </a:srgbClr>
          </a:solidFill>
          <a:ln/>
        </p:spPr>
      </p:sp>
      <p:sp>
        <p:nvSpPr>
          <p:cNvPr id="10" name="Shape 8"/>
          <p:cNvSpPr/>
          <p:nvPr/>
        </p:nvSpPr>
        <p:spPr>
          <a:xfrm>
            <a:off x="11049381" y="533781"/>
            <a:ext cx="349758" cy="349758"/>
          </a:xfrm>
          <a:prstGeom prst="ellipse">
            <a:avLst/>
          </a:prstGeom>
          <a:solidFill>
            <a:srgbClr val="45050D"/>
          </a:solidFill>
          <a:ln/>
        </p:spPr>
      </p:sp>
      <p:sp>
        <p:nvSpPr>
          <p:cNvPr id="11" name="Shape 9"/>
          <p:cNvSpPr/>
          <p:nvPr/>
        </p:nvSpPr>
        <p:spPr>
          <a:xfrm>
            <a:off x="548640" y="2148840"/>
            <a:ext cx="2103120" cy="502920"/>
          </a:xfrm>
          <a:prstGeom prst="roundRect">
            <a:avLst>
              <a:gd name="adj" fmla="val 49091"/>
            </a:avLst>
          </a:prstGeom>
          <a:solidFill>
            <a:srgbClr val="D4AF37"/>
          </a:solidFill>
          <a:ln/>
        </p:spPr>
      </p:sp>
      <p:sp>
        <p:nvSpPr>
          <p:cNvPr id="12" name="Text 10"/>
          <p:cNvSpPr/>
          <p:nvPr/>
        </p:nvSpPr>
        <p:spPr>
          <a:xfrm>
            <a:off x="548640" y="2148840"/>
            <a:ext cx="2103120" cy="502920"/>
          </a:xfrm>
          <a:prstGeom prst="rect">
            <a:avLst/>
          </a:prstGeom>
          <a:noFill/>
          <a:ln/>
        </p:spPr>
        <p:txBody>
          <a:bodyPr wrap="square" lIns="0" tIns="0" rIns="0" bIns="0" rtlCol="0" anchor="ctr"/>
          <a:lstStyle/>
          <a:p>
            <a:pPr algn="ctr" indent="0" marL="0">
              <a:buNone/>
            </a:pPr>
            <a:r>
              <a:rPr lang="en-US" sz="1600" b="1" dirty="0">
                <a:solidFill>
                  <a:srgbClr val="45050D"/>
                </a:solidFill>
                <a:latin typeface="Latha" pitchFamily="34" charset="0"/>
                <a:ea typeface="Latha" pitchFamily="34" charset="-122"/>
                <a:cs typeface="Latha" pitchFamily="34" charset="-120"/>
              </a:rPr>
              <a:t>இயல் 4</a:t>
            </a:r>
            <a:endParaRPr lang="en-US" sz="1600" dirty="0"/>
          </a:p>
        </p:txBody>
      </p:sp>
      <p:sp>
        <p:nvSpPr>
          <p:cNvPr id="13" name="Text 11"/>
          <p:cNvSpPr/>
          <p:nvPr/>
        </p:nvSpPr>
        <p:spPr>
          <a:xfrm>
            <a:off x="548640" y="2788920"/>
            <a:ext cx="7040880" cy="1463040"/>
          </a:xfrm>
          <a:prstGeom prst="rect">
            <a:avLst/>
          </a:prstGeom>
          <a:noFill/>
          <a:ln/>
        </p:spPr>
        <p:txBody>
          <a:bodyPr wrap="square" lIns="0" tIns="0" rIns="0" bIns="0" rtlCol="0" anchor="ctr"/>
          <a:lstStyle/>
          <a:p>
            <a:pPr indent="0" marL="0">
              <a:lnSpc>
                <a:spcPct val="110000"/>
              </a:lnSpc>
              <a:buNone/>
            </a:pPr>
            <a:r>
              <a:rPr lang="en-US" sz="3800" b="1" dirty="0">
                <a:solidFill>
                  <a:srgbClr val="FFF9F0"/>
                </a:solidFill>
                <a:latin typeface="Latha" pitchFamily="34" charset="0"/>
                <a:ea typeface="Latha" pitchFamily="34" charset="-122"/>
                <a:cs typeface="Latha" pitchFamily="34" charset="-120"/>
              </a:rPr>
              <a:t>நிறமும் குறியீடும்</a:t>
            </a:r>
            <a:endParaRPr lang="en-US" sz="3800" dirty="0"/>
          </a:p>
        </p:txBody>
      </p:sp>
      <p:sp>
        <p:nvSpPr>
          <p:cNvPr id="14" name="Text 12"/>
          <p:cNvSpPr/>
          <p:nvPr/>
        </p:nvSpPr>
        <p:spPr>
          <a:xfrm>
            <a:off x="548640" y="4160520"/>
            <a:ext cx="6766560" cy="548640"/>
          </a:xfrm>
          <a:prstGeom prst="rect">
            <a:avLst/>
          </a:prstGeom>
          <a:noFill/>
          <a:ln/>
        </p:spPr>
        <p:txBody>
          <a:bodyPr wrap="square" lIns="0" tIns="0" rIns="0" bIns="0" rtlCol="0" anchor="ctr"/>
          <a:lstStyle/>
          <a:p>
            <a:pPr indent="0" marL="0">
              <a:buNone/>
            </a:pPr>
            <a:r>
              <a:rPr lang="en-US" sz="1500" i="1" dirty="0">
                <a:solidFill>
                  <a:srgbClr val="D4AF37"/>
                </a:solidFill>
                <a:latin typeface="Latha" pitchFamily="34" charset="0"/>
                <a:ea typeface="Latha" pitchFamily="34" charset="-122"/>
                <a:cs typeface="Latha" pitchFamily="34" charset="-120"/>
              </a:rPr>
              <a:t>சிவப்பு நிறமும் வேலும்</a:t>
            </a:r>
            <a:endParaRPr lang="en-US" sz="1500" dirty="0"/>
          </a:p>
        </p:txBody>
      </p:sp>
      <p:sp>
        <p:nvSpPr>
          <p:cNvPr id="15" name="Shape 13"/>
          <p:cNvSpPr/>
          <p:nvPr/>
        </p:nvSpPr>
        <p:spPr>
          <a:xfrm>
            <a:off x="7863840" y="1371600"/>
            <a:ext cx="3749040" cy="4206240"/>
          </a:xfrm>
          <a:prstGeom prst="roundRect">
            <a:avLst>
              <a:gd name="adj" fmla="val 1951"/>
            </a:avLst>
          </a:prstGeom>
          <a:solidFill>
            <a:srgbClr val="FFFFFF">
              <a:alpha val="70000"/>
            </a:srgbClr>
          </a:solidFill>
          <a:ln w="19050">
            <a:solidFill>
              <a:srgbClr val="5C636D"/>
            </a:solidFill>
            <a:prstDash val="dash"/>
          </a:ln>
        </p:spPr>
      </p:sp>
      <p:sp>
        <p:nvSpPr>
          <p:cNvPr id="16" name="Shape 14"/>
          <p:cNvSpPr/>
          <p:nvPr/>
        </p:nvSpPr>
        <p:spPr>
          <a:xfrm>
            <a:off x="9486900" y="1627632"/>
            <a:ext cx="502920" cy="365760"/>
          </a:xfrm>
          <a:prstGeom prst="roundRect">
            <a:avLst>
              <a:gd name="adj" fmla="val 7500"/>
            </a:avLst>
          </a:prstGeom>
          <a:ln w="19050">
            <a:solidFill>
              <a:srgbClr val="5C636D"/>
            </a:solidFill>
            <a:prstDash val="solid"/>
          </a:ln>
        </p:spPr>
      </p:sp>
      <p:sp>
        <p:nvSpPr>
          <p:cNvPr id="17" name="Shape 15"/>
          <p:cNvSpPr/>
          <p:nvPr/>
        </p:nvSpPr>
        <p:spPr>
          <a:xfrm>
            <a:off x="9541764" y="1682496"/>
            <a:ext cx="82296" cy="82296"/>
          </a:xfrm>
          <a:prstGeom prst="ellipse">
            <a:avLst/>
          </a:prstGeom>
          <a:solidFill>
            <a:srgbClr val="5C636D"/>
          </a:solidFill>
          <a:ln/>
        </p:spPr>
      </p:sp>
      <p:sp>
        <p:nvSpPr>
          <p:cNvPr id="18" name="Shape 16"/>
          <p:cNvSpPr/>
          <p:nvPr/>
        </p:nvSpPr>
        <p:spPr>
          <a:xfrm>
            <a:off x="9633204" y="1755648"/>
            <a:ext cx="292608" cy="182880"/>
          </a:xfrm>
          <a:prstGeom prst="triangle">
            <a:avLst/>
          </a:prstGeom>
          <a:solidFill>
            <a:srgbClr val="5C636D"/>
          </a:solidFill>
          <a:ln/>
        </p:spPr>
      </p:sp>
      <p:sp>
        <p:nvSpPr>
          <p:cNvPr id="19" name="Text 17"/>
          <p:cNvSpPr/>
          <p:nvPr/>
        </p:nvSpPr>
        <p:spPr>
          <a:xfrm>
            <a:off x="8001000" y="2103120"/>
            <a:ext cx="347472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20" name="Text 18"/>
          <p:cNvSpPr/>
          <p:nvPr/>
        </p:nvSpPr>
        <p:spPr>
          <a:xfrm>
            <a:off x="8046720" y="2450592"/>
            <a:ext cx="338328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vel spear golden red Murugan symbol close up</a:t>
            </a:r>
            <a:endParaRPr lang="en-US" sz="1000" dirty="0"/>
          </a:p>
        </p:txBody>
      </p:sp>
      <p:sp>
        <p:nvSpPr>
          <p:cNvPr id="21" name="Text 19"/>
          <p:cNvSpPr/>
          <p:nvPr/>
        </p:nvSpPr>
        <p:spPr>
          <a:xfrm>
            <a:off x="8046720" y="3319272"/>
            <a:ext cx="3383280" cy="212140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A beautifully detailed golden spear (vel) glowing softly against a deep red background, elegant and symbolic, no violent context, suitable for a school presentation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D4AF37">
              <a:alpha val="80000"/>
            </a:srgbClr>
          </a:solidFill>
          <a:ln/>
        </p:spPr>
      </p:sp>
      <p:sp>
        <p:nvSpPr>
          <p:cNvPr id="3" name="Shape 1"/>
          <p:cNvSpPr/>
          <p:nvPr/>
        </p:nvSpPr>
        <p:spPr>
          <a:xfrm rot="-8100000">
            <a:off x="11420856" y="6323076"/>
            <a:ext cx="219456" cy="68580"/>
          </a:xfrm>
          <a:prstGeom prst="diamond">
            <a:avLst/>
          </a:prstGeom>
          <a:solidFill>
            <a:srgbClr val="D4AF37">
              <a:alpha val="80000"/>
            </a:srgbClr>
          </a:solidFill>
          <a:ln/>
        </p:spPr>
      </p:sp>
      <p:sp>
        <p:nvSpPr>
          <p:cNvPr id="4" name="Shape 2"/>
          <p:cNvSpPr/>
          <p:nvPr/>
        </p:nvSpPr>
        <p:spPr>
          <a:xfrm rot="-8100000">
            <a:off x="11320272" y="6176772"/>
            <a:ext cx="155448" cy="50292"/>
          </a:xfrm>
          <a:prstGeom prst="diamond">
            <a:avLst/>
          </a:prstGeom>
          <a:solidFill>
            <a:srgbClr val="D4AF37">
              <a:alpha val="80000"/>
            </a:srgbClr>
          </a:solidFill>
          <a:ln/>
        </p:spPr>
      </p:sp>
      <p:sp>
        <p:nvSpPr>
          <p:cNvPr id="5" name="Shape 3"/>
          <p:cNvSpPr/>
          <p:nvPr/>
        </p:nvSpPr>
        <p:spPr>
          <a:xfrm>
            <a:off x="548640" y="457200"/>
            <a:ext cx="2834640" cy="457200"/>
          </a:xfrm>
          <a:prstGeom prst="roundRect">
            <a:avLst>
              <a:gd name="adj" fmla="val 50000"/>
            </a:avLst>
          </a:prstGeom>
          <a:solidFill>
            <a:srgbClr val="7A1620"/>
          </a:solidFill>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FFF9F0"/>
                </a:solidFill>
                <a:latin typeface="Latha" pitchFamily="34" charset="0"/>
                <a:ea typeface="Latha" pitchFamily="34" charset="-122"/>
                <a:cs typeface="Latha" pitchFamily="34" charset="-120"/>
              </a:rPr>
              <a:t>செம்மை நிறம்</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D4AF37"/>
                </a:solidFill>
                <a:latin typeface="Latha" pitchFamily="34" charset="0"/>
                <a:ea typeface="Latha" pitchFamily="34" charset="-122"/>
                <a:cs typeface="Latha" pitchFamily="34" charset="-120"/>
              </a:rPr>
              <a:t>செவ்வேள் — சிவந்த இறைவன்</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முருகனுக்கு "செவ்வேள்" என்ற பெயர் உண்டு — செம்மை (சிவப்பு) நிறம் கொண்டவர் என்று பொருள்.</a:t>
            </a:r>
            <a:endParaRPr lang="en-US" sz="1450" dirty="0"/>
          </a:p>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தமிழ் மரபில் சிவப்பு நிறம் உயிர்ச்சக்தி, வீரம், துணிவு, மற்றும் செயலின் வெப்பத்தைக் குறிக்கும் நிறம்.</a:t>
            </a:r>
            <a:endParaRPr lang="en-US" sz="1450" dirty="0"/>
          </a:p>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ஆனால் முருகனிடம் இந்த சிவப்பு நிறம் கட்டுப்பாடற்ற வெறியை அல்ல — நோக்கத்துடன் திசைப்படுத்தப்பட்ட ஆற்றலைக் குறிக்கிறது.</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red color symbolism Tamil culture vitality courage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வேல் (ஈட்டி)</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இருளைக் கிழிக்கும் ஒளி</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வேல் என்பது வெறும் ஆயுதம் அல்ல — அது பார்வதி தேவி முருகனுக்குக் கொடுத்த பரிசு, அவளின் சக்தியும் ஞானமும் நிறைந்தது.</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கோபத்தின் ஆயுதம் அல்ல வேல்; அது இருளை (அறியாமையை) கிழிக்கும் ஒளி போன்றது. "வேலை ஏந்துதல்" என்பது குவிந்த ஞானத்தை ஏந்துதல் என்று பொருள்.</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vel spear symbolism wisdom cutting ignorance illustration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குணங்கள்</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முருகனின் நான்கு முக்கியக் குணங்கள்</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துணிவும் வீரமும் — சிறு வயதிலேயே சூரபத்மனை எதிர்கொண்ட தைரியம்.</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முன்னெடுப்புத் திறன் (Entrepreneurship) — கயிலாயத்தின் வசதியை விட்டு, அறிமுகமில்லாத தமிழகத்திற்குச் சென்று புதிய தலங்களை நிறுவிய முன்னோடித்தனம்.</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ஞானம் — மாங்கனிப் போட்டியில் புத்திசாலித்தனமாக சிந்தித்த தன்மை.</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இச்சை அடக்கம் (Self-mastery) — மயிலின் கீழ் அடங்கிய பாம்பு போல, தன் சொந்த உணர்வுகளைக் கட்டுப்படுத்தும் திறன்.</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Murugan virtues bravery wisdom discipline symbolic art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6446520"/>
            <a:ext cx="292608" cy="91440"/>
          </a:xfrm>
          <a:prstGeom prst="diamond">
            <a:avLst/>
          </a:prstGeom>
          <a:solidFill>
            <a:srgbClr val="D4AF37">
              <a:alpha val="80000"/>
            </a:srgbClr>
          </a:solidFill>
          <a:ln/>
        </p:spPr>
      </p:sp>
      <p:sp>
        <p:nvSpPr>
          <p:cNvPr id="6" name="Shape 4"/>
          <p:cNvSpPr/>
          <p:nvPr/>
        </p:nvSpPr>
        <p:spPr>
          <a:xfrm rot="-8100000">
            <a:off x="11420856" y="6323076"/>
            <a:ext cx="219456" cy="68580"/>
          </a:xfrm>
          <a:prstGeom prst="diamond">
            <a:avLst/>
          </a:prstGeom>
          <a:solidFill>
            <a:srgbClr val="D4AF37">
              <a:alpha val="80000"/>
            </a:srgbClr>
          </a:solidFill>
          <a:ln/>
        </p:spPr>
      </p:sp>
      <p:sp>
        <p:nvSpPr>
          <p:cNvPr id="7" name="Shape 5"/>
          <p:cNvSpPr/>
          <p:nvPr/>
        </p:nvSpPr>
        <p:spPr>
          <a:xfrm rot="-8100000">
            <a:off x="11320272" y="6176772"/>
            <a:ext cx="155448" cy="50292"/>
          </a:xfrm>
          <a:prstGeom prst="diamond">
            <a:avLst/>
          </a:prstGeom>
          <a:solidFill>
            <a:srgbClr val="D4AF37">
              <a:alpha val="80000"/>
            </a:srgbClr>
          </a:solidFill>
          <a:ln/>
        </p:spPr>
      </p:sp>
      <p:sp>
        <p:nvSpPr>
          <p:cNvPr id="8" name="Shape 6"/>
          <p:cNvSpPr/>
          <p:nvPr/>
        </p:nvSpPr>
        <p:spPr>
          <a:xfrm>
            <a:off x="10835640" y="320040"/>
            <a:ext cx="777240" cy="777240"/>
          </a:xfrm>
          <a:prstGeom prst="ellipse">
            <a:avLst/>
          </a:prstGeom>
          <a:solidFill>
            <a:srgbClr val="0E6F5C">
              <a:alpha val="90000"/>
            </a:srgbClr>
          </a:solidFill>
          <a:ln w="12700">
            <a:solidFill>
              <a:srgbClr val="D4AF37"/>
            </a:solidFill>
            <a:prstDash val="solid"/>
          </a:ln>
        </p:spPr>
      </p:sp>
      <p:sp>
        <p:nvSpPr>
          <p:cNvPr id="9" name="Shape 7"/>
          <p:cNvSpPr/>
          <p:nvPr/>
        </p:nvSpPr>
        <p:spPr>
          <a:xfrm>
            <a:off x="10928909" y="413309"/>
            <a:ext cx="590702" cy="590702"/>
          </a:xfrm>
          <a:prstGeom prst="ellipse">
            <a:avLst/>
          </a:prstGeom>
          <a:solidFill>
            <a:srgbClr val="D4AF37">
              <a:alpha val="85000"/>
            </a:srgbClr>
          </a:solidFill>
          <a:ln/>
        </p:spPr>
      </p:sp>
      <p:sp>
        <p:nvSpPr>
          <p:cNvPr id="10" name="Shape 8"/>
          <p:cNvSpPr/>
          <p:nvPr/>
        </p:nvSpPr>
        <p:spPr>
          <a:xfrm>
            <a:off x="11049381" y="533781"/>
            <a:ext cx="349758" cy="349758"/>
          </a:xfrm>
          <a:prstGeom prst="ellipse">
            <a:avLst/>
          </a:prstGeom>
          <a:solidFill>
            <a:srgbClr val="45050D"/>
          </a:solidFill>
          <a:ln/>
        </p:spPr>
      </p:sp>
      <p:sp>
        <p:nvSpPr>
          <p:cNvPr id="11" name="Shape 9"/>
          <p:cNvSpPr/>
          <p:nvPr/>
        </p:nvSpPr>
        <p:spPr>
          <a:xfrm>
            <a:off x="548640" y="2148840"/>
            <a:ext cx="2103120" cy="502920"/>
          </a:xfrm>
          <a:prstGeom prst="roundRect">
            <a:avLst>
              <a:gd name="adj" fmla="val 49091"/>
            </a:avLst>
          </a:prstGeom>
          <a:solidFill>
            <a:srgbClr val="D4AF37"/>
          </a:solidFill>
          <a:ln/>
        </p:spPr>
      </p:sp>
      <p:sp>
        <p:nvSpPr>
          <p:cNvPr id="12" name="Text 10"/>
          <p:cNvSpPr/>
          <p:nvPr/>
        </p:nvSpPr>
        <p:spPr>
          <a:xfrm>
            <a:off x="548640" y="2148840"/>
            <a:ext cx="2103120" cy="502920"/>
          </a:xfrm>
          <a:prstGeom prst="rect">
            <a:avLst/>
          </a:prstGeom>
          <a:noFill/>
          <a:ln/>
        </p:spPr>
        <p:txBody>
          <a:bodyPr wrap="square" lIns="0" tIns="0" rIns="0" bIns="0" rtlCol="0" anchor="ctr"/>
          <a:lstStyle/>
          <a:p>
            <a:pPr algn="ctr" indent="0" marL="0">
              <a:buNone/>
            </a:pPr>
            <a:r>
              <a:rPr lang="en-US" sz="1600" b="1" dirty="0">
                <a:solidFill>
                  <a:srgbClr val="45050D"/>
                </a:solidFill>
                <a:latin typeface="Latha" pitchFamily="34" charset="0"/>
                <a:ea typeface="Latha" pitchFamily="34" charset="-122"/>
                <a:cs typeface="Latha" pitchFamily="34" charset="-120"/>
              </a:rPr>
              <a:t>இயல் 5</a:t>
            </a:r>
            <a:endParaRPr lang="en-US" sz="1600" dirty="0"/>
          </a:p>
        </p:txBody>
      </p:sp>
      <p:sp>
        <p:nvSpPr>
          <p:cNvPr id="13" name="Text 11"/>
          <p:cNvSpPr/>
          <p:nvPr/>
        </p:nvSpPr>
        <p:spPr>
          <a:xfrm>
            <a:off x="548640" y="2788920"/>
            <a:ext cx="7040880" cy="1463040"/>
          </a:xfrm>
          <a:prstGeom prst="rect">
            <a:avLst/>
          </a:prstGeom>
          <a:noFill/>
          <a:ln/>
        </p:spPr>
        <p:txBody>
          <a:bodyPr wrap="square" lIns="0" tIns="0" rIns="0" bIns="0" rtlCol="0" anchor="ctr"/>
          <a:lstStyle/>
          <a:p>
            <a:pPr indent="0" marL="0">
              <a:lnSpc>
                <a:spcPct val="110000"/>
              </a:lnSpc>
              <a:buNone/>
            </a:pPr>
            <a:r>
              <a:rPr lang="en-US" sz="3800" b="1" dirty="0">
                <a:solidFill>
                  <a:srgbClr val="FFF9F0"/>
                </a:solidFill>
                <a:latin typeface="Latha" pitchFamily="34" charset="0"/>
                <a:ea typeface="Latha" pitchFamily="34" charset="-122"/>
                <a:cs typeface="Latha" pitchFamily="34" charset="-120"/>
              </a:rPr>
              <a:t>கிழக்கும் மேற்கும்</a:t>
            </a:r>
            <a:endParaRPr lang="en-US" sz="3800" dirty="0"/>
          </a:p>
        </p:txBody>
      </p:sp>
      <p:sp>
        <p:nvSpPr>
          <p:cNvPr id="14" name="Text 12"/>
          <p:cNvSpPr/>
          <p:nvPr/>
        </p:nvSpPr>
        <p:spPr>
          <a:xfrm>
            <a:off x="548640" y="4160520"/>
            <a:ext cx="6766560" cy="548640"/>
          </a:xfrm>
          <a:prstGeom prst="rect">
            <a:avLst/>
          </a:prstGeom>
          <a:noFill/>
          <a:ln/>
        </p:spPr>
        <p:txBody>
          <a:bodyPr wrap="square" lIns="0" tIns="0" rIns="0" bIns="0" rtlCol="0" anchor="ctr"/>
          <a:lstStyle/>
          <a:p>
            <a:pPr indent="0" marL="0">
              <a:buNone/>
            </a:pPr>
            <a:r>
              <a:rPr lang="en-US" sz="1500" i="1" dirty="0">
                <a:solidFill>
                  <a:srgbClr val="D4AF37"/>
                </a:solidFill>
                <a:latin typeface="Latha" pitchFamily="34" charset="0"/>
                <a:ea typeface="Latha" pitchFamily="34" charset="-122"/>
                <a:cs typeface="Latha" pitchFamily="34" charset="-120"/>
              </a:rPr>
              <a:t>ஒரு ஒப்பீட்டுப் பார்வை</a:t>
            </a:r>
            <a:endParaRPr lang="en-US" sz="1500" dirty="0"/>
          </a:p>
        </p:txBody>
      </p:sp>
      <p:sp>
        <p:nvSpPr>
          <p:cNvPr id="15" name="Shape 13"/>
          <p:cNvSpPr/>
          <p:nvPr/>
        </p:nvSpPr>
        <p:spPr>
          <a:xfrm>
            <a:off x="7863840" y="1371600"/>
            <a:ext cx="3749040" cy="4206240"/>
          </a:xfrm>
          <a:prstGeom prst="roundRect">
            <a:avLst>
              <a:gd name="adj" fmla="val 1951"/>
            </a:avLst>
          </a:prstGeom>
          <a:solidFill>
            <a:srgbClr val="FFFFFF">
              <a:alpha val="70000"/>
            </a:srgbClr>
          </a:solidFill>
          <a:ln w="19050">
            <a:solidFill>
              <a:srgbClr val="5C636D"/>
            </a:solidFill>
            <a:prstDash val="dash"/>
          </a:ln>
        </p:spPr>
      </p:sp>
      <p:sp>
        <p:nvSpPr>
          <p:cNvPr id="16" name="Shape 14"/>
          <p:cNvSpPr/>
          <p:nvPr/>
        </p:nvSpPr>
        <p:spPr>
          <a:xfrm>
            <a:off x="9486900" y="1627632"/>
            <a:ext cx="502920" cy="365760"/>
          </a:xfrm>
          <a:prstGeom prst="roundRect">
            <a:avLst>
              <a:gd name="adj" fmla="val 7500"/>
            </a:avLst>
          </a:prstGeom>
          <a:ln w="19050">
            <a:solidFill>
              <a:srgbClr val="5C636D"/>
            </a:solidFill>
            <a:prstDash val="solid"/>
          </a:ln>
        </p:spPr>
      </p:sp>
      <p:sp>
        <p:nvSpPr>
          <p:cNvPr id="17" name="Shape 15"/>
          <p:cNvSpPr/>
          <p:nvPr/>
        </p:nvSpPr>
        <p:spPr>
          <a:xfrm>
            <a:off x="9541764" y="1682496"/>
            <a:ext cx="82296" cy="82296"/>
          </a:xfrm>
          <a:prstGeom prst="ellipse">
            <a:avLst/>
          </a:prstGeom>
          <a:solidFill>
            <a:srgbClr val="5C636D"/>
          </a:solidFill>
          <a:ln/>
        </p:spPr>
      </p:sp>
      <p:sp>
        <p:nvSpPr>
          <p:cNvPr id="18" name="Shape 16"/>
          <p:cNvSpPr/>
          <p:nvPr/>
        </p:nvSpPr>
        <p:spPr>
          <a:xfrm>
            <a:off x="9633204" y="1755648"/>
            <a:ext cx="292608" cy="182880"/>
          </a:xfrm>
          <a:prstGeom prst="triangle">
            <a:avLst/>
          </a:prstGeom>
          <a:solidFill>
            <a:srgbClr val="5C636D"/>
          </a:solidFill>
          <a:ln/>
        </p:spPr>
      </p:sp>
      <p:sp>
        <p:nvSpPr>
          <p:cNvPr id="19" name="Text 17"/>
          <p:cNvSpPr/>
          <p:nvPr/>
        </p:nvSpPr>
        <p:spPr>
          <a:xfrm>
            <a:off x="8001000" y="2103120"/>
            <a:ext cx="347472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20" name="Text 18"/>
          <p:cNvSpPr/>
          <p:nvPr/>
        </p:nvSpPr>
        <p:spPr>
          <a:xfrm>
            <a:off x="8046720" y="2450592"/>
            <a:ext cx="338328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East meets West philosophy comparison symbolic art</a:t>
            </a:r>
            <a:endParaRPr lang="en-US" sz="1000" dirty="0"/>
          </a:p>
        </p:txBody>
      </p:sp>
      <p:sp>
        <p:nvSpPr>
          <p:cNvPr id="21" name="Text 19"/>
          <p:cNvSpPr/>
          <p:nvPr/>
        </p:nvSpPr>
        <p:spPr>
          <a:xfrm>
            <a:off x="8046720" y="3319272"/>
            <a:ext cx="3383280" cy="212140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A symbolic, elegant split-illustration: on one side a golden spear and peacock, on the other a Greek shield and laurel wreath, meeting in warm light at the center, respectful and abstract, no deity faces shown, suitable for a school presentation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D4AF37">
              <a:alpha val="80000"/>
            </a:srgbClr>
          </a:solidFill>
          <a:ln/>
        </p:spPr>
      </p:sp>
      <p:sp>
        <p:nvSpPr>
          <p:cNvPr id="3" name="Shape 1"/>
          <p:cNvSpPr/>
          <p:nvPr/>
        </p:nvSpPr>
        <p:spPr>
          <a:xfrm rot="-8100000">
            <a:off x="11420856" y="6323076"/>
            <a:ext cx="219456" cy="68580"/>
          </a:xfrm>
          <a:prstGeom prst="diamond">
            <a:avLst/>
          </a:prstGeom>
          <a:solidFill>
            <a:srgbClr val="D4AF37">
              <a:alpha val="80000"/>
            </a:srgbClr>
          </a:solidFill>
          <a:ln/>
        </p:spPr>
      </p:sp>
      <p:sp>
        <p:nvSpPr>
          <p:cNvPr id="4" name="Shape 2"/>
          <p:cNvSpPr/>
          <p:nvPr/>
        </p:nvSpPr>
        <p:spPr>
          <a:xfrm rot="-8100000">
            <a:off x="11320272" y="6176772"/>
            <a:ext cx="155448" cy="50292"/>
          </a:xfrm>
          <a:prstGeom prst="diamond">
            <a:avLst/>
          </a:prstGeom>
          <a:solidFill>
            <a:srgbClr val="D4AF37">
              <a:alpha val="80000"/>
            </a:srgbClr>
          </a:solidFill>
          <a:ln/>
        </p:spPr>
      </p:sp>
      <p:sp>
        <p:nvSpPr>
          <p:cNvPr id="5" name="Shape 3"/>
          <p:cNvSpPr/>
          <p:nvPr/>
        </p:nvSpPr>
        <p:spPr>
          <a:xfrm>
            <a:off x="548640" y="457200"/>
            <a:ext cx="2834640" cy="457200"/>
          </a:xfrm>
          <a:prstGeom prst="roundRect">
            <a:avLst>
              <a:gd name="adj" fmla="val 50000"/>
            </a:avLst>
          </a:prstGeom>
          <a:solidFill>
            <a:srgbClr val="7A1620"/>
          </a:solidFill>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FFF9F0"/>
                </a:solidFill>
                <a:latin typeface="Latha" pitchFamily="34" charset="0"/>
                <a:ea typeface="Latha" pitchFamily="34" charset="-122"/>
                <a:cs typeface="Latha" pitchFamily="34" charset="-120"/>
              </a:rPr>
              <a:t>சிவனும் முருகனும்</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D4AF37"/>
                </a:solidFill>
                <a:latin typeface="Latha" pitchFamily="34" charset="0"/>
                <a:ea typeface="Latha" pitchFamily="34" charset="-122"/>
                <a:cs typeface="Latha" pitchFamily="34" charset="-120"/>
              </a:rPr>
              <a:t>கட்டுப்படுத்தப்பட்ட நெருப்பு</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சிவபெருமான் பேரண்டத்தையே சாம்பலாக்கக் கூடிய பேராற்றலைக் கொண்டவர் — அவரது மூன்றாம் கண் கட்டுப்பாடற்ற, பேரளவிலான ஆற்றலின் சின்னம்.</a:t>
            </a:r>
            <a:endParaRPr lang="en-US" sz="1450" dirty="0"/>
          </a:p>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முருகன், அதே நெருப்பிலிருந்தே பிறந்தவர் — ஆனால் அந்த ஆற்றல் இப்போது ஒரு குறிப்பிட்ட நோக்கத்திற்காக, ஒரு வேலின் கூர்முனையாகக் குவிக்கப்பட்டுள்ளது.</a:t>
            </a:r>
            <a:endParaRPr lang="en-US" sz="1450" dirty="0"/>
          </a:p>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இது குறைந்த ஆற்றல் அல்ல — மாறாக, இன்னும் துல்லியமான, திசைப்படுத்தப்பட்ட ஆற்றல்.</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Shiva third eye fire cosmic power symbolic illustration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கிரேக்க ஒப்பீடு 1</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ஏரிஸ் / மார்ஸ் — கட்டுப்பாடற்ற போர்க்கடவுள்</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மேலைத் தொன்மங்களில், ஏரிஸ் (கிரேக்கம்) அல்லது மார்ஸ் (ரோமன்) என்பவர் போரின் கடவுள் — ஆனால் அவர் அடிக்கடி கட்டுப்பாடற்ற ஆவேசம், இரத்தவெறி ஆகியவற்றுடன் தொடர்புபடுத்தப்படுகிறார்.</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முருகனும் ஒரு போர்த் தலைவர்தான் — ஆனால் அவரது ஆற்றல் எப்போதுமே பாதுகாப்பிற்காகவும், சமநிலைக்காகவும் பயன்படுத்தப்படுகிறது; வெறும் அழிவிற்காக அல்ல.</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Ares Mars Greek Roman god of war symbolic art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கிரேக்க ஒப்பீடு 2</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அப்பல்லோ — ஞானமும் ஒழுங்கும்</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அப்பல்லோ (கிரேக்கம்) ஞானம், ஒழுங்கு, ஒளி, இசை ஆகியவற்றின் கடவுள் — சில நேரங்களில் ஏரிஸின் கட்டுப்பாடற்ற ஆற்றலை சமநிலைப்படுத்துபவராகக் காணப்படுகிறார்.</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தமிழ் மரபில் "வீரமான போராளி"யும் "அமைதியான ஞானி"யும் இரு வேறு தெய்வங்களாகப் பிரிக்கப்படவில்லை — முருகன் ஒருவரே இரண்டையும் ஏந்துகிறார்: சூரபத்மனை வென்ற வீரனும், மாங்கனிப் போட்டியின் பாடம் கற்ற ஞானியும் அவரே.</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Apollo Greek god wisdom order symbolic art</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D4AF37">
              <a:alpha val="80000"/>
            </a:srgbClr>
          </a:solidFill>
          <a:ln/>
        </p:spPr>
      </p:sp>
      <p:sp>
        <p:nvSpPr>
          <p:cNvPr id="3" name="Shape 1"/>
          <p:cNvSpPr/>
          <p:nvPr/>
        </p:nvSpPr>
        <p:spPr>
          <a:xfrm rot="-8100000">
            <a:off x="11420856" y="6323076"/>
            <a:ext cx="219456" cy="68580"/>
          </a:xfrm>
          <a:prstGeom prst="diamond">
            <a:avLst/>
          </a:prstGeom>
          <a:solidFill>
            <a:srgbClr val="D4AF37">
              <a:alpha val="80000"/>
            </a:srgbClr>
          </a:solidFill>
          <a:ln/>
        </p:spPr>
      </p:sp>
      <p:sp>
        <p:nvSpPr>
          <p:cNvPr id="4" name="Shape 2"/>
          <p:cNvSpPr/>
          <p:nvPr/>
        </p:nvSpPr>
        <p:spPr>
          <a:xfrm rot="-8100000">
            <a:off x="11320272" y="6176772"/>
            <a:ext cx="155448" cy="50292"/>
          </a:xfrm>
          <a:prstGeom prst="diamond">
            <a:avLst/>
          </a:prstGeom>
          <a:solidFill>
            <a:srgbClr val="D4AF37">
              <a:alpha val="80000"/>
            </a:srgbClr>
          </a:solidFill>
          <a:ln/>
        </p:spPr>
      </p:sp>
      <p:sp>
        <p:nvSpPr>
          <p:cNvPr id="5" name="Shape 3"/>
          <p:cNvSpPr/>
          <p:nvPr/>
        </p:nvSpPr>
        <p:spPr>
          <a:xfrm>
            <a:off x="548640" y="457200"/>
            <a:ext cx="2834640" cy="457200"/>
          </a:xfrm>
          <a:prstGeom prst="roundRect">
            <a:avLst>
              <a:gd name="adj" fmla="val 50000"/>
            </a:avLst>
          </a:prstGeom>
          <a:solidFill>
            <a:srgbClr val="7A1620"/>
          </a:solidFill>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FFF9F0"/>
                </a:solidFill>
                <a:latin typeface="Latha" pitchFamily="34" charset="0"/>
                <a:ea typeface="Latha" pitchFamily="34" charset="-122"/>
                <a:cs typeface="Latha" pitchFamily="34" charset="-120"/>
              </a:rPr>
              <a:t>ஒருங்கிணைவு</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D4AF37"/>
                </a:solidFill>
                <a:latin typeface="Latha" pitchFamily="34" charset="0"/>
                <a:ea typeface="Latha" pitchFamily="34" charset="-122"/>
                <a:cs typeface="Latha" pitchFamily="34" charset="-120"/>
              </a:rPr>
              <a:t>எல்லாப் பண்பாடுகளிலும் ஒரே கருத்து</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கிரேக்க-ரோமப் புராணம், தமிழ்ப் புராணம் — இரண்டிலும் ஒரே கருத்து மீண்டும் மீண்டும் வருகிறது: மூல ஆற்றல் (நெருப்பு/போர்) அர்த்தமுள்ளதாக மாறுவது, அது ஞானத்தாலும் சுய கட்டுப்பாட்டாலும் வழிநடத்தப்படும்போது மட்டுமே.</a:t>
            </a:r>
            <a:endParaRPr lang="en-US" sz="1450" dirty="0"/>
          </a:p>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முருகன் இந்த முழுப் பயணத்தையும் ஒரே உருவில் ஏந்துகிறார் — ஆறு தீப்பொறிகளாகத் தொடங்கி, ஒரு கட்டுப்படுத்தப்பட்ட வேலின் கூர்முனையாக முடிகிறது.</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unity fire wisdom discipline symbolic golden spear art</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இறுதி நோக்கம்</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கிழக்குத் தத்துவத்தின் இலக்கு — வீடு / முக்தி</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சூரபத்மனை வெல்வது மட்டும் கதையின் முடிவு அல்ல. கிழக்குத் தத்துவத்தில் இறுதி இலக்கு "வீடு" அல்லது "முக்தி" — கட்டுப்பாடற்ற ஆசைகளிலிருந்து (பாம்பு) மனதை விடுவித்து, ஆன்மா தன் மூலத்தை மீண்டும் அடைவதே.</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முருகனின் வேல், அறியாமையை (இருளை) கிழிப்பதன் மூலம், இந்த பெரிய இலக்கை — வெறும் வெற்றியை மட்டுமல்ல, ஞானம் வழி விடுதலையை — சுட்டிக் காட்டுகிறது.</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liberation moksha peace symbolic light spiritual art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6446520"/>
            <a:ext cx="292608" cy="91440"/>
          </a:xfrm>
          <a:prstGeom prst="diamond">
            <a:avLst/>
          </a:prstGeom>
          <a:solidFill>
            <a:srgbClr val="D4AF37">
              <a:alpha val="80000"/>
            </a:srgbClr>
          </a:solidFill>
          <a:ln/>
        </p:spPr>
      </p:sp>
      <p:sp>
        <p:nvSpPr>
          <p:cNvPr id="6" name="Shape 4"/>
          <p:cNvSpPr/>
          <p:nvPr/>
        </p:nvSpPr>
        <p:spPr>
          <a:xfrm rot="-8100000">
            <a:off x="11420856" y="6323076"/>
            <a:ext cx="219456" cy="68580"/>
          </a:xfrm>
          <a:prstGeom prst="diamond">
            <a:avLst/>
          </a:prstGeom>
          <a:solidFill>
            <a:srgbClr val="D4AF37">
              <a:alpha val="80000"/>
            </a:srgbClr>
          </a:solidFill>
          <a:ln/>
        </p:spPr>
      </p:sp>
      <p:sp>
        <p:nvSpPr>
          <p:cNvPr id="7" name="Shape 5"/>
          <p:cNvSpPr/>
          <p:nvPr/>
        </p:nvSpPr>
        <p:spPr>
          <a:xfrm rot="-8100000">
            <a:off x="11320272" y="6176772"/>
            <a:ext cx="155448" cy="50292"/>
          </a:xfrm>
          <a:prstGeom prst="diamond">
            <a:avLst/>
          </a:prstGeom>
          <a:solidFill>
            <a:srgbClr val="D4AF37">
              <a:alpha val="80000"/>
            </a:srgbClr>
          </a:solidFill>
          <a:ln/>
        </p:spPr>
      </p:sp>
      <p:sp>
        <p:nvSpPr>
          <p:cNvPr id="8" name="Shape 6"/>
          <p:cNvSpPr/>
          <p:nvPr/>
        </p:nvSpPr>
        <p:spPr>
          <a:xfrm>
            <a:off x="10835640" y="320040"/>
            <a:ext cx="777240" cy="777240"/>
          </a:xfrm>
          <a:prstGeom prst="ellipse">
            <a:avLst/>
          </a:prstGeom>
          <a:solidFill>
            <a:srgbClr val="0E6F5C">
              <a:alpha val="90000"/>
            </a:srgbClr>
          </a:solidFill>
          <a:ln w="12700">
            <a:solidFill>
              <a:srgbClr val="D4AF37"/>
            </a:solidFill>
            <a:prstDash val="solid"/>
          </a:ln>
        </p:spPr>
      </p:sp>
      <p:sp>
        <p:nvSpPr>
          <p:cNvPr id="9" name="Shape 7"/>
          <p:cNvSpPr/>
          <p:nvPr/>
        </p:nvSpPr>
        <p:spPr>
          <a:xfrm>
            <a:off x="10928909" y="413309"/>
            <a:ext cx="590702" cy="590702"/>
          </a:xfrm>
          <a:prstGeom prst="ellipse">
            <a:avLst/>
          </a:prstGeom>
          <a:solidFill>
            <a:srgbClr val="D4AF37">
              <a:alpha val="85000"/>
            </a:srgbClr>
          </a:solidFill>
          <a:ln/>
        </p:spPr>
      </p:sp>
      <p:sp>
        <p:nvSpPr>
          <p:cNvPr id="10" name="Shape 8"/>
          <p:cNvSpPr/>
          <p:nvPr/>
        </p:nvSpPr>
        <p:spPr>
          <a:xfrm>
            <a:off x="11049381" y="533781"/>
            <a:ext cx="349758" cy="349758"/>
          </a:xfrm>
          <a:prstGeom prst="ellipse">
            <a:avLst/>
          </a:prstGeom>
          <a:solidFill>
            <a:srgbClr val="45050D"/>
          </a:solidFill>
          <a:ln/>
        </p:spPr>
      </p:sp>
      <p:sp>
        <p:nvSpPr>
          <p:cNvPr id="11" name="Shape 9"/>
          <p:cNvSpPr/>
          <p:nvPr/>
        </p:nvSpPr>
        <p:spPr>
          <a:xfrm>
            <a:off x="548640" y="2148840"/>
            <a:ext cx="2103120" cy="502920"/>
          </a:xfrm>
          <a:prstGeom prst="roundRect">
            <a:avLst>
              <a:gd name="adj" fmla="val 49091"/>
            </a:avLst>
          </a:prstGeom>
          <a:solidFill>
            <a:srgbClr val="D4AF37"/>
          </a:solidFill>
          <a:ln/>
        </p:spPr>
      </p:sp>
      <p:sp>
        <p:nvSpPr>
          <p:cNvPr id="12" name="Text 10"/>
          <p:cNvSpPr/>
          <p:nvPr/>
        </p:nvSpPr>
        <p:spPr>
          <a:xfrm>
            <a:off x="548640" y="2148840"/>
            <a:ext cx="2103120" cy="502920"/>
          </a:xfrm>
          <a:prstGeom prst="rect">
            <a:avLst/>
          </a:prstGeom>
          <a:noFill/>
          <a:ln/>
        </p:spPr>
        <p:txBody>
          <a:bodyPr wrap="square" lIns="0" tIns="0" rIns="0" bIns="0" rtlCol="0" anchor="ctr"/>
          <a:lstStyle/>
          <a:p>
            <a:pPr algn="ctr" indent="0" marL="0">
              <a:buNone/>
            </a:pPr>
            <a:r>
              <a:rPr lang="en-US" sz="1600" b="1" dirty="0">
                <a:solidFill>
                  <a:srgbClr val="45050D"/>
                </a:solidFill>
                <a:latin typeface="Latha" pitchFamily="34" charset="0"/>
                <a:ea typeface="Latha" pitchFamily="34" charset="-122"/>
                <a:cs typeface="Latha" pitchFamily="34" charset="-120"/>
              </a:rPr>
              <a:t>இயல் 6</a:t>
            </a:r>
            <a:endParaRPr lang="en-US" sz="1600" dirty="0"/>
          </a:p>
        </p:txBody>
      </p:sp>
      <p:sp>
        <p:nvSpPr>
          <p:cNvPr id="13" name="Text 11"/>
          <p:cNvSpPr/>
          <p:nvPr/>
        </p:nvSpPr>
        <p:spPr>
          <a:xfrm>
            <a:off x="548640" y="2788920"/>
            <a:ext cx="7040880" cy="1463040"/>
          </a:xfrm>
          <a:prstGeom prst="rect">
            <a:avLst/>
          </a:prstGeom>
          <a:noFill/>
          <a:ln/>
        </p:spPr>
        <p:txBody>
          <a:bodyPr wrap="square" lIns="0" tIns="0" rIns="0" bIns="0" rtlCol="0" anchor="ctr"/>
          <a:lstStyle/>
          <a:p>
            <a:pPr indent="0" marL="0">
              <a:lnSpc>
                <a:spcPct val="110000"/>
              </a:lnSpc>
              <a:buNone/>
            </a:pPr>
            <a:r>
              <a:rPr lang="en-US" sz="3800" b="1" dirty="0">
                <a:solidFill>
                  <a:srgbClr val="FFF9F0"/>
                </a:solidFill>
                <a:latin typeface="Latha" pitchFamily="34" charset="0"/>
                <a:ea typeface="Latha" pitchFamily="34" charset="-122"/>
                <a:cs typeface="Latha" pitchFamily="34" charset="-120"/>
              </a:rPr>
              <a:t>பயணமும் பக்தியும்</a:t>
            </a:r>
            <a:endParaRPr lang="en-US" sz="3800" dirty="0"/>
          </a:p>
        </p:txBody>
      </p:sp>
      <p:sp>
        <p:nvSpPr>
          <p:cNvPr id="14" name="Text 12"/>
          <p:cNvSpPr/>
          <p:nvPr/>
        </p:nvSpPr>
        <p:spPr>
          <a:xfrm>
            <a:off x="548640" y="4160520"/>
            <a:ext cx="6766560" cy="548640"/>
          </a:xfrm>
          <a:prstGeom prst="rect">
            <a:avLst/>
          </a:prstGeom>
          <a:noFill/>
          <a:ln/>
        </p:spPr>
        <p:txBody>
          <a:bodyPr wrap="square" lIns="0" tIns="0" rIns="0" bIns="0" rtlCol="0" anchor="ctr"/>
          <a:lstStyle/>
          <a:p>
            <a:pPr indent="0" marL="0">
              <a:buNone/>
            </a:pPr>
            <a:r>
              <a:rPr lang="en-US" sz="1500" i="1" dirty="0">
                <a:solidFill>
                  <a:srgbClr val="D4AF37"/>
                </a:solidFill>
                <a:latin typeface="Latha" pitchFamily="34" charset="0"/>
                <a:ea typeface="Latha" pitchFamily="34" charset="-122"/>
                <a:cs typeface="Latha" pitchFamily="34" charset="-120"/>
              </a:rPr>
              <a:t>உள்ளத்தின் பயணம், உடலின் பயணம்</a:t>
            </a:r>
            <a:endParaRPr lang="en-US" sz="1500" dirty="0"/>
          </a:p>
        </p:txBody>
      </p:sp>
      <p:sp>
        <p:nvSpPr>
          <p:cNvPr id="15" name="Shape 13"/>
          <p:cNvSpPr/>
          <p:nvPr/>
        </p:nvSpPr>
        <p:spPr>
          <a:xfrm>
            <a:off x="7863840" y="1371600"/>
            <a:ext cx="3749040" cy="4206240"/>
          </a:xfrm>
          <a:prstGeom prst="roundRect">
            <a:avLst>
              <a:gd name="adj" fmla="val 1951"/>
            </a:avLst>
          </a:prstGeom>
          <a:solidFill>
            <a:srgbClr val="FFFFFF">
              <a:alpha val="70000"/>
            </a:srgbClr>
          </a:solidFill>
          <a:ln w="19050">
            <a:solidFill>
              <a:srgbClr val="5C636D"/>
            </a:solidFill>
            <a:prstDash val="dash"/>
          </a:ln>
        </p:spPr>
      </p:sp>
      <p:sp>
        <p:nvSpPr>
          <p:cNvPr id="16" name="Shape 14"/>
          <p:cNvSpPr/>
          <p:nvPr/>
        </p:nvSpPr>
        <p:spPr>
          <a:xfrm>
            <a:off x="9486900" y="1627632"/>
            <a:ext cx="502920" cy="365760"/>
          </a:xfrm>
          <a:prstGeom prst="roundRect">
            <a:avLst>
              <a:gd name="adj" fmla="val 7500"/>
            </a:avLst>
          </a:prstGeom>
          <a:ln w="19050">
            <a:solidFill>
              <a:srgbClr val="5C636D"/>
            </a:solidFill>
            <a:prstDash val="solid"/>
          </a:ln>
        </p:spPr>
      </p:sp>
      <p:sp>
        <p:nvSpPr>
          <p:cNvPr id="17" name="Shape 15"/>
          <p:cNvSpPr/>
          <p:nvPr/>
        </p:nvSpPr>
        <p:spPr>
          <a:xfrm>
            <a:off x="9541764" y="1682496"/>
            <a:ext cx="82296" cy="82296"/>
          </a:xfrm>
          <a:prstGeom prst="ellipse">
            <a:avLst/>
          </a:prstGeom>
          <a:solidFill>
            <a:srgbClr val="5C636D"/>
          </a:solidFill>
          <a:ln/>
        </p:spPr>
      </p:sp>
      <p:sp>
        <p:nvSpPr>
          <p:cNvPr id="18" name="Shape 16"/>
          <p:cNvSpPr/>
          <p:nvPr/>
        </p:nvSpPr>
        <p:spPr>
          <a:xfrm>
            <a:off x="9633204" y="1755648"/>
            <a:ext cx="292608" cy="182880"/>
          </a:xfrm>
          <a:prstGeom prst="triangle">
            <a:avLst/>
          </a:prstGeom>
          <a:solidFill>
            <a:srgbClr val="5C636D"/>
          </a:solidFill>
          <a:ln/>
        </p:spPr>
      </p:sp>
      <p:sp>
        <p:nvSpPr>
          <p:cNvPr id="19" name="Text 17"/>
          <p:cNvSpPr/>
          <p:nvPr/>
        </p:nvSpPr>
        <p:spPr>
          <a:xfrm>
            <a:off x="8001000" y="2103120"/>
            <a:ext cx="347472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20" name="Text 18"/>
          <p:cNvSpPr/>
          <p:nvPr/>
        </p:nvSpPr>
        <p:spPr>
          <a:xfrm>
            <a:off x="8046720" y="2450592"/>
            <a:ext cx="3383280" cy="8229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pilgrims walking barefoot temple path devotion</a:t>
            </a:r>
            <a:endParaRPr lang="en-US" sz="1000" dirty="0"/>
          </a:p>
        </p:txBody>
      </p:sp>
      <p:sp>
        <p:nvSpPr>
          <p:cNvPr id="21" name="Text 19"/>
          <p:cNvSpPr/>
          <p:nvPr/>
        </p:nvSpPr>
        <p:spPr>
          <a:xfrm>
            <a:off x="8046720" y="3319272"/>
            <a:ext cx="3383280" cy="2121408"/>
          </a:xfrm>
          <a:prstGeom prst="rect">
            <a:avLst/>
          </a:prstGeom>
          <a:noFill/>
          <a:ln/>
        </p:spPr>
        <p:txBody>
          <a:bodyPr wrap="square" lIns="0" tIns="0" rIns="0" bIns="0" rtlCol="0" anchor="t"/>
          <a:lstStyle/>
          <a:p>
            <a:pPr algn="l" indent="0" marL="0">
              <a:lnSpc>
                <a:spcPct val="115000"/>
              </a:lnSpc>
              <a:buNone/>
            </a:pPr>
            <a:r>
              <a:rPr lang="en-US" sz="950" b="1" dirty="0">
                <a:solidFill>
                  <a:srgbClr val="7A1620"/>
                </a:solidFill>
                <a:latin typeface="Latha" pitchFamily="34" charset="0"/>
                <a:ea typeface="Latha" pitchFamily="34" charset="-122"/>
                <a:cs typeface="Latha" pitchFamily="34" charset="-120"/>
              </a:rPr>
              <a:t>🎨 AI Prompt: </a:t>
            </a:r>
            <a:pPr algn="l" indent="0" marL="0">
              <a:lnSpc>
                <a:spcPct val="115000"/>
              </a:lnSpc>
              <a:buNone/>
            </a:pPr>
            <a:r>
              <a:rPr lang="en-US" sz="950" i="1" dirty="0">
                <a:solidFill>
                  <a:srgbClr val="2B0A0A"/>
                </a:solidFill>
                <a:latin typeface="Latha" pitchFamily="34" charset="0"/>
                <a:ea typeface="Latha" pitchFamily="34" charset="-122"/>
                <a:cs typeface="Latha" pitchFamily="34" charset="-120"/>
              </a:rPr>
              <a:t>A gentle line of devotees walking together along a peaceful sunlit path toward a distant hill temple, warm and hopeful storybook illustration style, respectful and non-graphic, suitable for children</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பக்தியும் பயணமும்</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இறைவனை நோக்கிய நடை</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தமிழ் பக்தி மரபில், இறைவனை அடையும் ஆன்மாவின் ஏக்கம் பெரும்பாலும் ஒரு உடல் ரீதியான பயணமாகவே சொல்லப்படுகிறது — புனித இடத்திற்கு நடந்து செல்வது, உள்ளத்தின் நடையை பிரதிபலிக்கிறது.</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Tamil bhakti pilgrimage sacred journey tradition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வைணவ மரபு</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வைகுண்ட அம்மானை</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19ஆம் நூற்றாண்டில் தென் தமிழகத்தில் தோன்றிய அய்யாவழி மரபில், அய்யா வைகுண்டரின் வாழ்க்கையையும் அவர் வைகுண்டத்தை அடைந்த நிகழ்வையும் விவரிக்கும் "அகிலத்திரட்டு அம்மானை" ("வைகுண்ட அம்மானை" என்றும் அழைக்கப்படும்) எனும் நீண்ட பக்திநூல் உள்ளது.</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அய்யாவழி பின்பற்றுவோர் இன்றும் அவருடன் தொடர்புடைய புனித தலங்களுக்குப் (எ.கா. சுவாமித்தோப்பு) பயணம் செய்கின்றனர். இது, ஆன்மாவின் இறுதி இலக்காம் "வைகுண்டம்" (விஷ்ணுவின் உலகம்) நோக்கிய பயணத்தை, ஒரு உண்மையான புனிதப் பயணமாகக் காட்டும் தமிழ் இலக்கிய மரபிற்கு ஓர் எடுத்துக்காட்டு.</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Swamithope pathi Ayyavazhi pilgrimage site Kanyakumari</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6446520"/>
            <a:ext cx="292608" cy="91440"/>
          </a:xfrm>
          <a:prstGeom prst="diamond">
            <a:avLst/>
          </a:prstGeom>
          <a:solidFill>
            <a:srgbClr val="D4AF37">
              <a:alpha val="80000"/>
            </a:srgbClr>
          </a:solidFill>
          <a:ln/>
        </p:spPr>
      </p:sp>
      <p:sp>
        <p:nvSpPr>
          <p:cNvPr id="6" name="Shape 4"/>
          <p:cNvSpPr/>
          <p:nvPr/>
        </p:nvSpPr>
        <p:spPr>
          <a:xfrm rot="-8100000">
            <a:off x="11420856" y="6323076"/>
            <a:ext cx="219456" cy="68580"/>
          </a:xfrm>
          <a:prstGeom prst="diamond">
            <a:avLst/>
          </a:prstGeom>
          <a:solidFill>
            <a:srgbClr val="D4AF37">
              <a:alpha val="80000"/>
            </a:srgbClr>
          </a:solidFill>
          <a:ln/>
        </p:spPr>
      </p:sp>
      <p:sp>
        <p:nvSpPr>
          <p:cNvPr id="7" name="Shape 5"/>
          <p:cNvSpPr/>
          <p:nvPr/>
        </p:nvSpPr>
        <p:spPr>
          <a:xfrm rot="-8100000">
            <a:off x="11320272" y="6176772"/>
            <a:ext cx="155448" cy="50292"/>
          </a:xfrm>
          <a:prstGeom prst="diamond">
            <a:avLst/>
          </a:prstGeom>
          <a:solidFill>
            <a:srgbClr val="D4AF37">
              <a:alpha val="80000"/>
            </a:srgbClr>
          </a:solidFill>
          <a:ln/>
        </p:spPr>
      </p:sp>
      <p:sp>
        <p:nvSpPr>
          <p:cNvPr id="8" name="Text 6"/>
          <p:cNvSpPr/>
          <p:nvPr/>
        </p:nvSpPr>
        <p:spPr>
          <a:xfrm>
            <a:off x="548640" y="548640"/>
            <a:ext cx="6858000" cy="411480"/>
          </a:xfrm>
          <a:prstGeom prst="rect">
            <a:avLst/>
          </a:prstGeom>
          <a:noFill/>
          <a:ln/>
        </p:spPr>
        <p:txBody>
          <a:bodyPr wrap="square" lIns="0" tIns="0" rIns="0" bIns="0" rtlCol="0" anchor="ctr"/>
          <a:lstStyle/>
          <a:p>
            <a:pPr indent="0" marL="0">
              <a:buNone/>
            </a:pPr>
            <a:r>
              <a:rPr lang="en-US" sz="1400" b="1" spc="100" kern="0" dirty="0">
                <a:solidFill>
                  <a:srgbClr val="D4AF37"/>
                </a:solidFill>
                <a:latin typeface="Latha" pitchFamily="34" charset="0"/>
                <a:ea typeface="Latha" pitchFamily="34" charset="-122"/>
                <a:cs typeface="Latha" pitchFamily="34" charset="-120"/>
              </a:rPr>
              <a:t>அதே எண்ணம், சைவ மரபில்</a:t>
            </a:r>
            <a:endParaRPr lang="en-US" sz="1400" dirty="0"/>
          </a:p>
        </p:txBody>
      </p:sp>
      <p:sp>
        <p:nvSpPr>
          <p:cNvPr id="9" name="Text 7"/>
          <p:cNvSpPr/>
          <p:nvPr/>
        </p:nvSpPr>
        <p:spPr>
          <a:xfrm>
            <a:off x="548640" y="1051560"/>
            <a:ext cx="6949440" cy="1371600"/>
          </a:xfrm>
          <a:prstGeom prst="rect">
            <a:avLst/>
          </a:prstGeom>
          <a:noFill/>
          <a:ln/>
        </p:spPr>
        <p:txBody>
          <a:bodyPr wrap="square" lIns="0" tIns="0" rIns="0" bIns="0" rtlCol="0" anchor="ctr"/>
          <a:lstStyle/>
          <a:p>
            <a:pPr indent="0" marL="0">
              <a:lnSpc>
                <a:spcPct val="110000"/>
              </a:lnSpc>
              <a:buNone/>
            </a:pPr>
            <a:r>
              <a:rPr lang="en-US" sz="3000" b="1" dirty="0">
                <a:solidFill>
                  <a:srgbClr val="FFF9F0"/>
                </a:solidFill>
                <a:latin typeface="Latha" pitchFamily="34" charset="0"/>
                <a:ea typeface="Latha" pitchFamily="34" charset="-122"/>
                <a:cs typeface="Latha" pitchFamily="34" charset="-120"/>
              </a:rPr>
              <a:t>வைகுண்டத்திலிருந்து பழனி வரை</a:t>
            </a:r>
            <a:endParaRPr lang="en-US" sz="3000" dirty="0"/>
          </a:p>
        </p:txBody>
      </p:sp>
      <p:sp>
        <p:nvSpPr>
          <p:cNvPr id="10" name="Text 8"/>
          <p:cNvSpPr/>
          <p:nvPr/>
        </p:nvSpPr>
        <p:spPr>
          <a:xfrm>
            <a:off x="548640" y="2514600"/>
            <a:ext cx="6949440" cy="3840480"/>
          </a:xfrm>
          <a:prstGeom prst="rect">
            <a:avLst/>
          </a:prstGeom>
          <a:noFill/>
          <a:ln/>
        </p:spPr>
        <p:txBody>
          <a:bodyPr wrap="square" lIns="0" tIns="0" rIns="0" bIns="0" rtlCol="0" anchor="t"/>
          <a:lstStyle/>
          <a:p>
            <a:pPr algn="l" indent="0" marL="0">
              <a:lnSpc>
                <a:spcPct val="125000"/>
              </a:lnSpc>
              <a:buNone/>
            </a:pPr>
            <a:r>
              <a:rPr lang="en-US" sz="1450" dirty="0">
                <a:solidFill>
                  <a:srgbClr val="D9C9C0"/>
                </a:solidFill>
                <a:latin typeface="Latha" pitchFamily="34" charset="0"/>
                <a:ea typeface="Latha" pitchFamily="34" charset="-122"/>
                <a:cs typeface="Latha" pitchFamily="34" charset="-120"/>
              </a:rPr>
              <a:t>வைணவ மரபில் ஆன்மா இறுதியில் அடைய விரும்பும் இடம் வைகுண்டம் என்றால், சைவ (முருக) மரபில் அதே ஏக்கம் ஒரு உண்மையான, உடலால் உணரப்படும் பயணமாக மாறுகிறது — காவடிப் பயணம். பக்தர்கள் பல நாட்கள் காலணி இல்லாமல் நடந்து, தங்கள் தோள்களில் அலங்கரிக்கப்பட்ட காவடியைச் சுமந்து, பழனி போன்ற முருகன் மலைக்கோவில்களை நோக்கிச் செல்கிறார்கள். உடலின் இந்தக் கடினமான நடை, முருகனே குறிக்கும் அந்த உள்ளார்ந்த ஒழுக்கத்தையும் சுய கட்டுப்பாட்டையும் பிரதிபலிக்கிறது.</a:t>
            </a:r>
            <a:endParaRPr lang="en-US" sz="1450" dirty="0"/>
          </a:p>
        </p:txBody>
      </p:sp>
      <p:sp>
        <p:nvSpPr>
          <p:cNvPr id="11" name="Shape 9"/>
          <p:cNvSpPr/>
          <p:nvPr/>
        </p:nvSpPr>
        <p:spPr>
          <a:xfrm>
            <a:off x="7863840" y="1051560"/>
            <a:ext cx="3749040" cy="5303520"/>
          </a:xfrm>
          <a:prstGeom prst="roundRect">
            <a:avLst>
              <a:gd name="adj" fmla="val 1951"/>
            </a:avLst>
          </a:prstGeom>
          <a:solidFill>
            <a:srgbClr val="FFFFFF">
              <a:alpha val="70000"/>
            </a:srgbClr>
          </a:solidFill>
          <a:ln w="19050">
            <a:solidFill>
              <a:srgbClr val="5C636D"/>
            </a:solidFill>
            <a:prstDash val="dash"/>
          </a:ln>
        </p:spPr>
      </p:sp>
      <p:sp>
        <p:nvSpPr>
          <p:cNvPr id="12" name="Shape 10"/>
          <p:cNvSpPr/>
          <p:nvPr/>
        </p:nvSpPr>
        <p:spPr>
          <a:xfrm>
            <a:off x="9486900" y="1307592"/>
            <a:ext cx="502920" cy="365760"/>
          </a:xfrm>
          <a:prstGeom prst="roundRect">
            <a:avLst>
              <a:gd name="adj" fmla="val 7500"/>
            </a:avLst>
          </a:prstGeom>
          <a:ln w="19050">
            <a:solidFill>
              <a:srgbClr val="5C636D"/>
            </a:solidFill>
            <a:prstDash val="solid"/>
          </a:ln>
        </p:spPr>
      </p:sp>
      <p:sp>
        <p:nvSpPr>
          <p:cNvPr id="13" name="Shape 11"/>
          <p:cNvSpPr/>
          <p:nvPr/>
        </p:nvSpPr>
        <p:spPr>
          <a:xfrm>
            <a:off x="9541764" y="1362456"/>
            <a:ext cx="82296" cy="82296"/>
          </a:xfrm>
          <a:prstGeom prst="ellipse">
            <a:avLst/>
          </a:prstGeom>
          <a:solidFill>
            <a:srgbClr val="5C636D"/>
          </a:solidFill>
          <a:ln/>
        </p:spPr>
      </p:sp>
      <p:sp>
        <p:nvSpPr>
          <p:cNvPr id="14" name="Shape 12"/>
          <p:cNvSpPr/>
          <p:nvPr/>
        </p:nvSpPr>
        <p:spPr>
          <a:xfrm>
            <a:off x="9633204" y="1435608"/>
            <a:ext cx="292608" cy="182880"/>
          </a:xfrm>
          <a:prstGeom prst="triangle">
            <a:avLst/>
          </a:prstGeom>
          <a:solidFill>
            <a:srgbClr val="5C636D"/>
          </a:solidFill>
          <a:ln/>
        </p:spPr>
      </p:sp>
      <p:sp>
        <p:nvSpPr>
          <p:cNvPr id="15" name="Text 13"/>
          <p:cNvSpPr/>
          <p:nvPr/>
        </p:nvSpPr>
        <p:spPr>
          <a:xfrm>
            <a:off x="8001000" y="1783080"/>
            <a:ext cx="347472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6" name="Text 14"/>
          <p:cNvSpPr/>
          <p:nvPr/>
        </p:nvSpPr>
        <p:spPr>
          <a:xfrm>
            <a:off x="8046720" y="2130552"/>
            <a:ext cx="338328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kavadi pilgrims walking barefoot Palani temple hill</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D4AF37">
              <a:alpha val="80000"/>
            </a:srgbClr>
          </a:solidFill>
          <a:ln/>
        </p:spPr>
      </p:sp>
      <p:sp>
        <p:nvSpPr>
          <p:cNvPr id="3" name="Shape 1"/>
          <p:cNvSpPr/>
          <p:nvPr/>
        </p:nvSpPr>
        <p:spPr>
          <a:xfrm rot="-8100000">
            <a:off x="11420856" y="6323076"/>
            <a:ext cx="219456" cy="68580"/>
          </a:xfrm>
          <a:prstGeom prst="diamond">
            <a:avLst/>
          </a:prstGeom>
          <a:solidFill>
            <a:srgbClr val="D4AF37">
              <a:alpha val="80000"/>
            </a:srgbClr>
          </a:solidFill>
          <a:ln/>
        </p:spPr>
      </p:sp>
      <p:sp>
        <p:nvSpPr>
          <p:cNvPr id="4" name="Shape 2"/>
          <p:cNvSpPr/>
          <p:nvPr/>
        </p:nvSpPr>
        <p:spPr>
          <a:xfrm rot="-8100000">
            <a:off x="11320272" y="6176772"/>
            <a:ext cx="155448" cy="50292"/>
          </a:xfrm>
          <a:prstGeom prst="diamond">
            <a:avLst/>
          </a:prstGeom>
          <a:solidFill>
            <a:srgbClr val="D4AF37">
              <a:alpha val="80000"/>
            </a:srgbClr>
          </a:solidFill>
          <a:ln/>
        </p:spPr>
      </p:sp>
      <p:sp>
        <p:nvSpPr>
          <p:cNvPr id="5" name="Shape 3"/>
          <p:cNvSpPr/>
          <p:nvPr/>
        </p:nvSpPr>
        <p:spPr>
          <a:xfrm>
            <a:off x="548640" y="457200"/>
            <a:ext cx="2834640" cy="457200"/>
          </a:xfrm>
          <a:prstGeom prst="roundRect">
            <a:avLst>
              <a:gd name="adj" fmla="val 50000"/>
            </a:avLst>
          </a:prstGeom>
          <a:solidFill>
            <a:srgbClr val="7A1620"/>
          </a:solidFill>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FFF9F0"/>
                </a:solidFill>
                <a:latin typeface="Latha" pitchFamily="34" charset="0"/>
                <a:ea typeface="Latha" pitchFamily="34" charset="-122"/>
                <a:cs typeface="Latha" pitchFamily="34" charset="-120"/>
              </a:rPr>
              <a:t>காவடிப் பயணம்</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D4AF37"/>
                </a:solidFill>
                <a:latin typeface="Latha" pitchFamily="34" charset="0"/>
                <a:ea typeface="Latha" pitchFamily="34" charset="-122"/>
                <a:cs typeface="Latha" pitchFamily="34" charset="-120"/>
              </a:rPr>
              <a:t>தோளில் சுமக்கும் பாரம், உள்ளத்தில் இறக்கும் பாரம்</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காவடி என்பது அலங்கரிக்கப்பட்ட ஒரு வளைவு வடிவ சட்டகம் — பால், பழம், பூக்கள் போன்ற வழிபாட்டுப் பொருட்களைச் சுமந்து செல்ல பயன்படுத்தப்படுகிறது.</a:t>
            </a:r>
            <a:endParaRPr lang="en-US" sz="1450" dirty="0"/>
          </a:p>
          <a:p>
            <a:pPr algn="l" indent="0" marL="0">
              <a:lnSpc>
                <a:spcPct val="122000"/>
              </a:lnSpc>
              <a:spcAft>
                <a:spcPts val="1200"/>
              </a:spcAft>
              <a:buNone/>
            </a:pPr>
            <a:r>
              <a:rPr lang="en-US" sz="1450" dirty="0">
                <a:solidFill>
                  <a:srgbClr val="FFF9F0"/>
                </a:solidFill>
                <a:latin typeface="Latha" pitchFamily="34" charset="0"/>
                <a:ea typeface="Latha" pitchFamily="34" charset="-122"/>
                <a:cs typeface="Latha" pitchFamily="34" charset="-120"/>
              </a:rPr>
              <a:t>இதைச் சுமந்து, வெறுங்காலுடன், பாடிக்கொண்டே, நடந்தே மலை மேல் உள்ள கோவிலை நோக்கிச் செல்வது — உடல் சிரமத்தை பக்தியால் தாங்கிக் கொள்வது, தன் ஆசைகளையும் கவலைகளையும் இறைவனிடம் ஒப்படைப்பதன் அடையாளம்.</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kavadi decorated arch devotee shoulder carrying temple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9F0"/>
        </a:solidFill>
      </p:bgPr>
    </p:bg>
    <p:spTree>
      <p:nvGrpSpPr>
        <p:cNvPr id="1" name=""/>
        <p:cNvGrpSpPr/>
        <p:nvPr/>
      </p:nvGrpSpPr>
      <p:grpSpPr>
        <a:xfrm>
          <a:off x="0" y="0"/>
          <a:ext cx="0" cy="0"/>
          <a:chOff x="0" y="0"/>
          <a:chExt cx="0" cy="0"/>
        </a:xfrm>
      </p:grpSpPr>
      <p:sp>
        <p:nvSpPr>
          <p:cNvPr id="2" name="Shape 0"/>
          <p:cNvSpPr/>
          <p:nvPr/>
        </p:nvSpPr>
        <p:spPr>
          <a:xfrm rot="-8100000">
            <a:off x="11548872" y="6446520"/>
            <a:ext cx="292608" cy="91440"/>
          </a:xfrm>
          <a:prstGeom prst="diamond">
            <a:avLst/>
          </a:prstGeom>
          <a:solidFill>
            <a:srgbClr val="7A1620">
              <a:alpha val="80000"/>
            </a:srgbClr>
          </a:solidFill>
          <a:ln/>
        </p:spPr>
      </p:sp>
      <p:sp>
        <p:nvSpPr>
          <p:cNvPr id="3" name="Shape 1"/>
          <p:cNvSpPr/>
          <p:nvPr/>
        </p:nvSpPr>
        <p:spPr>
          <a:xfrm rot="-8100000">
            <a:off x="11420856" y="6323076"/>
            <a:ext cx="219456" cy="68580"/>
          </a:xfrm>
          <a:prstGeom prst="diamond">
            <a:avLst/>
          </a:prstGeom>
          <a:solidFill>
            <a:srgbClr val="7A1620">
              <a:alpha val="80000"/>
            </a:srgbClr>
          </a:solidFill>
          <a:ln/>
        </p:spPr>
      </p:sp>
      <p:sp>
        <p:nvSpPr>
          <p:cNvPr id="4" name="Shape 2"/>
          <p:cNvSpPr/>
          <p:nvPr/>
        </p:nvSpPr>
        <p:spPr>
          <a:xfrm rot="-8100000">
            <a:off x="11320272" y="6176772"/>
            <a:ext cx="155448" cy="50292"/>
          </a:xfrm>
          <a:prstGeom prst="diamond">
            <a:avLst/>
          </a:prstGeom>
          <a:solidFill>
            <a:srgbClr val="7A1620">
              <a:alpha val="80000"/>
            </a:srgbClr>
          </a:solidFill>
          <a:ln/>
        </p:spPr>
      </p:sp>
      <p:sp>
        <p:nvSpPr>
          <p:cNvPr id="5" name="Shape 3"/>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6" name="Text 4"/>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நடந்தே செல்லும் பாடல்</a:t>
            </a:r>
            <a:endParaRPr lang="en-US" sz="1350" dirty="0"/>
          </a:p>
        </p:txBody>
      </p:sp>
      <p:sp>
        <p:nvSpPr>
          <p:cNvPr id="7" name="Text 5"/>
          <p:cNvSpPr/>
          <p:nvPr/>
        </p:nvSpPr>
        <p:spPr>
          <a:xfrm>
            <a:off x="548640" y="1097280"/>
            <a:ext cx="11064240" cy="777240"/>
          </a:xfrm>
          <a:prstGeom prst="rect">
            <a:avLst/>
          </a:prstGeom>
          <a:noFill/>
          <a:ln/>
        </p:spPr>
        <p:txBody>
          <a:bodyPr wrap="square" lIns="0" tIns="0" rIns="0" bIns="0" rtlCol="0" anchor="ctr"/>
          <a:lstStyle/>
          <a:p>
            <a:pPr indent="0" marL="0">
              <a:buNone/>
            </a:pPr>
            <a:r>
              <a:rPr lang="en-US" sz="2700" b="1" dirty="0">
                <a:solidFill>
                  <a:srgbClr val="7A1620"/>
                </a:solidFill>
                <a:latin typeface="Latha" pitchFamily="34" charset="0"/>
                <a:ea typeface="Latha" pitchFamily="34" charset="-122"/>
                <a:cs typeface="Latha" pitchFamily="34" charset="-120"/>
              </a:rPr>
              <a:t>காவடிச் சிந்து — பாரத்தை இலகுவாக்கும் பாடல்</a:t>
            </a:r>
            <a:endParaRPr lang="en-US" sz="2700" dirty="0"/>
          </a:p>
        </p:txBody>
      </p:sp>
      <p:sp>
        <p:nvSpPr>
          <p:cNvPr id="8" name="Text 6"/>
          <p:cNvSpPr/>
          <p:nvPr/>
        </p:nvSpPr>
        <p:spPr>
          <a:xfrm>
            <a:off x="548640" y="1965960"/>
            <a:ext cx="6400800" cy="4480560"/>
          </a:xfrm>
          <a:prstGeom prst="rect">
            <a:avLst/>
          </a:prstGeom>
          <a:noFill/>
          <a:ln/>
        </p:spPr>
        <p:txBody>
          <a:bodyPr wrap="square" lIns="0" tIns="0" rIns="0" bIns="0" rtlCol="0" anchor="t"/>
          <a:lstStyle/>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காவடியைச் சுமந்து நீண்ட தூரம் நடப்பது எளிதன்று. எனவே, பக்தர்கள் நடந்தபடியே "சிந்து" எனப்படும் தாள லயமுள்ள பக்திப் பாடல்களைப் பாடுவது வழக்கம் — அவை கோவிலையும், இறைவனையும், அடையும்போது கிடைக்கும் இன்பத்தையும் வர்ணிக்கின்றன.</a:t>
            </a:r>
            <a:endParaRPr lang="en-US" sz="1450" dirty="0"/>
          </a:p>
          <a:p>
            <a:pPr algn="l" indent="0" marL="0">
              <a:lnSpc>
                <a:spcPct val="122000"/>
              </a:lnSpc>
              <a:spcAft>
                <a:spcPts val="1200"/>
              </a:spcAft>
              <a:buNone/>
            </a:pPr>
            <a:r>
              <a:rPr lang="en-US" sz="1450" dirty="0">
                <a:solidFill>
                  <a:srgbClr val="2B0A0A"/>
                </a:solidFill>
                <a:latin typeface="Latha" pitchFamily="34" charset="0"/>
                <a:ea typeface="Latha" pitchFamily="34" charset="-122"/>
                <a:cs typeface="Latha" pitchFamily="34" charset="-120"/>
              </a:rPr>
              <a:t>இந்தப் பாடல்கள் உடலின் சுமையையும், உள்ளத்தின் சுமையையும் ஒருசேர இலகுவாக்குகின்றன. இதுவே உங்கள் வகுப்பு இப்போது கற்கவிருக்கும் பாடல் — காவடிச் சிந்து.</a:t>
            </a:r>
            <a:endParaRPr lang="en-US" sz="1450" dirty="0"/>
          </a:p>
        </p:txBody>
      </p:sp>
      <p:sp>
        <p:nvSpPr>
          <p:cNvPr id="9" name="Shape 7"/>
          <p:cNvSpPr/>
          <p:nvPr/>
        </p:nvSpPr>
        <p:spPr>
          <a:xfrm>
            <a:off x="8138160" y="1965960"/>
            <a:ext cx="3474720" cy="4480560"/>
          </a:xfrm>
          <a:prstGeom prst="roundRect">
            <a:avLst>
              <a:gd name="adj" fmla="val 2105"/>
            </a:avLst>
          </a:prstGeom>
          <a:solidFill>
            <a:srgbClr val="FFFFFF">
              <a:alpha val="70000"/>
            </a:srgbClr>
          </a:solidFill>
          <a:ln w="19050">
            <a:solidFill>
              <a:srgbClr val="5C636D"/>
            </a:solidFill>
            <a:prstDash val="dash"/>
          </a:ln>
        </p:spPr>
      </p:sp>
      <p:sp>
        <p:nvSpPr>
          <p:cNvPr id="10" name="Shape 8"/>
          <p:cNvSpPr/>
          <p:nvPr/>
        </p:nvSpPr>
        <p:spPr>
          <a:xfrm>
            <a:off x="9624060" y="2221992"/>
            <a:ext cx="502920" cy="365760"/>
          </a:xfrm>
          <a:prstGeom prst="roundRect">
            <a:avLst>
              <a:gd name="adj" fmla="val 7500"/>
            </a:avLst>
          </a:prstGeom>
          <a:ln w="19050">
            <a:solidFill>
              <a:srgbClr val="5C636D"/>
            </a:solidFill>
            <a:prstDash val="solid"/>
          </a:ln>
        </p:spPr>
      </p:sp>
      <p:sp>
        <p:nvSpPr>
          <p:cNvPr id="11" name="Shape 9"/>
          <p:cNvSpPr/>
          <p:nvPr/>
        </p:nvSpPr>
        <p:spPr>
          <a:xfrm>
            <a:off x="9678924" y="2276856"/>
            <a:ext cx="82296" cy="82296"/>
          </a:xfrm>
          <a:prstGeom prst="ellipse">
            <a:avLst/>
          </a:prstGeom>
          <a:solidFill>
            <a:srgbClr val="5C636D"/>
          </a:solidFill>
          <a:ln/>
        </p:spPr>
      </p:sp>
      <p:sp>
        <p:nvSpPr>
          <p:cNvPr id="12" name="Shape 10"/>
          <p:cNvSpPr/>
          <p:nvPr/>
        </p:nvSpPr>
        <p:spPr>
          <a:xfrm>
            <a:off x="9770364" y="2350008"/>
            <a:ext cx="292608" cy="182880"/>
          </a:xfrm>
          <a:prstGeom prst="triangle">
            <a:avLst/>
          </a:prstGeom>
          <a:solidFill>
            <a:srgbClr val="5C636D"/>
          </a:solidFill>
          <a:ln/>
        </p:spPr>
      </p:sp>
      <p:sp>
        <p:nvSpPr>
          <p:cNvPr id="13" name="Text 11"/>
          <p:cNvSpPr/>
          <p:nvPr/>
        </p:nvSpPr>
        <p:spPr>
          <a:xfrm>
            <a:off x="8275320" y="2697480"/>
            <a:ext cx="3200400" cy="274320"/>
          </a:xfrm>
          <a:prstGeom prst="rect">
            <a:avLst/>
          </a:prstGeom>
          <a:noFill/>
          <a:ln/>
        </p:spPr>
        <p:txBody>
          <a:bodyPr wrap="square" lIns="0" tIns="0" rIns="0" bIns="0" rtlCol="0" anchor="ctr"/>
          <a:lstStyle/>
          <a:p>
            <a:pPr algn="ctr" indent="0" marL="0">
              <a:buNone/>
            </a:pPr>
            <a:r>
              <a:rPr lang="en-US" sz="1050" b="1" dirty="0">
                <a:solidFill>
                  <a:srgbClr val="5C636D"/>
                </a:solidFill>
                <a:latin typeface="Latha" pitchFamily="34" charset="0"/>
                <a:ea typeface="Latha" pitchFamily="34" charset="-122"/>
                <a:cs typeface="Latha" pitchFamily="34" charset="-120"/>
              </a:rPr>
              <a:t>படக்காட்சி இடம் · IMAGE PLACEHOLDER</a:t>
            </a:r>
            <a:endParaRPr lang="en-US" sz="1050" dirty="0"/>
          </a:p>
        </p:txBody>
      </p:sp>
      <p:sp>
        <p:nvSpPr>
          <p:cNvPr id="14" name="Text 12"/>
          <p:cNvSpPr/>
          <p:nvPr/>
        </p:nvSpPr>
        <p:spPr>
          <a:xfrm>
            <a:off x="8321040" y="3044952"/>
            <a:ext cx="3108960" cy="1280160"/>
          </a:xfrm>
          <a:prstGeom prst="rect">
            <a:avLst/>
          </a:prstGeom>
          <a:noFill/>
          <a:ln/>
        </p:spPr>
        <p:txBody>
          <a:bodyPr wrap="square" lIns="0" tIns="0" rIns="0" bIns="0" rtlCol="0" anchor="t"/>
          <a:lstStyle/>
          <a:p>
            <a:pPr algn="l" indent="0" marL="0">
              <a:lnSpc>
                <a:spcPct val="115000"/>
              </a:lnSpc>
              <a:buNone/>
            </a:pPr>
            <a:r>
              <a:rPr lang="en-US" sz="1000" b="1" dirty="0">
                <a:solidFill>
                  <a:srgbClr val="093F34"/>
                </a:solidFill>
                <a:latin typeface="Latha" pitchFamily="34" charset="0"/>
                <a:ea typeface="Latha" pitchFamily="34" charset="-122"/>
                <a:cs typeface="Latha" pitchFamily="34" charset="-120"/>
              </a:rPr>
              <a:t>🔍 Search: </a:t>
            </a:r>
            <a:pPr algn="l" indent="0" marL="0">
              <a:lnSpc>
                <a:spcPct val="115000"/>
              </a:lnSpc>
              <a:buNone/>
            </a:pPr>
            <a:r>
              <a:rPr lang="en-US" sz="1000" dirty="0">
                <a:solidFill>
                  <a:srgbClr val="2B0A0A"/>
                </a:solidFill>
                <a:latin typeface="Latha" pitchFamily="34" charset="0"/>
                <a:ea typeface="Latha" pitchFamily="34" charset="-122"/>
                <a:cs typeface="Latha" pitchFamily="34" charset="-120"/>
              </a:rPr>
              <a:t>kavadi sindhu song devotees singing walking temple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45050D"/>
        </a:solidFill>
      </p:bgPr>
    </p:bg>
    <p:spTree>
      <p:nvGrpSpPr>
        <p:cNvPr id="1" name=""/>
        <p:cNvGrpSpPr/>
        <p:nvPr/>
      </p:nvGrpSpPr>
      <p:grpSpPr>
        <a:xfrm>
          <a:off x="0" y="0"/>
          <a:ext cx="0" cy="0"/>
          <a:chOff x="0" y="0"/>
          <a:chExt cx="0" cy="0"/>
        </a:xfrm>
      </p:grpSpPr>
      <p:sp>
        <p:nvSpPr>
          <p:cNvPr id="2" name="Shape 0"/>
          <p:cNvSpPr/>
          <p:nvPr/>
        </p:nvSpPr>
        <p:spPr>
          <a:xfrm rot="2700000">
            <a:off x="320040" y="320040"/>
            <a:ext cx="292608" cy="91440"/>
          </a:xfrm>
          <a:prstGeom prst="diamond">
            <a:avLst/>
          </a:prstGeom>
          <a:solidFill>
            <a:srgbClr val="D4AF37">
              <a:alpha val="80000"/>
            </a:srgbClr>
          </a:solidFill>
          <a:ln/>
        </p:spPr>
      </p:sp>
      <p:sp>
        <p:nvSpPr>
          <p:cNvPr id="3" name="Shape 1"/>
          <p:cNvSpPr/>
          <p:nvPr/>
        </p:nvSpPr>
        <p:spPr>
          <a:xfrm rot="2700000">
            <a:off x="521208" y="466344"/>
            <a:ext cx="219456" cy="68580"/>
          </a:xfrm>
          <a:prstGeom prst="diamond">
            <a:avLst/>
          </a:prstGeom>
          <a:solidFill>
            <a:srgbClr val="D4AF37">
              <a:alpha val="80000"/>
            </a:srgbClr>
          </a:solidFill>
          <a:ln/>
        </p:spPr>
      </p:sp>
      <p:sp>
        <p:nvSpPr>
          <p:cNvPr id="4" name="Shape 2"/>
          <p:cNvSpPr/>
          <p:nvPr/>
        </p:nvSpPr>
        <p:spPr>
          <a:xfrm rot="2700000">
            <a:off x="685800" y="630936"/>
            <a:ext cx="155448" cy="50292"/>
          </a:xfrm>
          <a:prstGeom prst="diamond">
            <a:avLst/>
          </a:prstGeom>
          <a:solidFill>
            <a:srgbClr val="D4AF37">
              <a:alpha val="80000"/>
            </a:srgbClr>
          </a:solidFill>
          <a:ln/>
        </p:spPr>
      </p:sp>
      <p:sp>
        <p:nvSpPr>
          <p:cNvPr id="5" name="Shape 3"/>
          <p:cNvSpPr/>
          <p:nvPr/>
        </p:nvSpPr>
        <p:spPr>
          <a:xfrm rot="8100000">
            <a:off x="11548872" y="320040"/>
            <a:ext cx="292608" cy="91440"/>
          </a:xfrm>
          <a:prstGeom prst="diamond">
            <a:avLst/>
          </a:prstGeom>
          <a:solidFill>
            <a:srgbClr val="D4AF37">
              <a:alpha val="80000"/>
            </a:srgbClr>
          </a:solidFill>
          <a:ln/>
        </p:spPr>
      </p:sp>
      <p:sp>
        <p:nvSpPr>
          <p:cNvPr id="6" name="Shape 4"/>
          <p:cNvSpPr/>
          <p:nvPr/>
        </p:nvSpPr>
        <p:spPr>
          <a:xfrm rot="8100000">
            <a:off x="11420856" y="466344"/>
            <a:ext cx="219456" cy="68580"/>
          </a:xfrm>
          <a:prstGeom prst="diamond">
            <a:avLst/>
          </a:prstGeom>
          <a:solidFill>
            <a:srgbClr val="D4AF37">
              <a:alpha val="80000"/>
            </a:srgbClr>
          </a:solidFill>
          <a:ln/>
        </p:spPr>
      </p:sp>
      <p:sp>
        <p:nvSpPr>
          <p:cNvPr id="7" name="Shape 5"/>
          <p:cNvSpPr/>
          <p:nvPr/>
        </p:nvSpPr>
        <p:spPr>
          <a:xfrm rot="8100000">
            <a:off x="11320272" y="630936"/>
            <a:ext cx="155448" cy="50292"/>
          </a:xfrm>
          <a:prstGeom prst="diamond">
            <a:avLst/>
          </a:prstGeom>
          <a:solidFill>
            <a:srgbClr val="D4AF37">
              <a:alpha val="80000"/>
            </a:srgbClr>
          </a:solidFill>
          <a:ln/>
        </p:spPr>
      </p:sp>
      <p:sp>
        <p:nvSpPr>
          <p:cNvPr id="8" name="Shape 6"/>
          <p:cNvSpPr/>
          <p:nvPr/>
        </p:nvSpPr>
        <p:spPr>
          <a:xfrm rot="-2700000">
            <a:off x="320040" y="6446520"/>
            <a:ext cx="292608" cy="91440"/>
          </a:xfrm>
          <a:prstGeom prst="diamond">
            <a:avLst/>
          </a:prstGeom>
          <a:solidFill>
            <a:srgbClr val="D4AF37">
              <a:alpha val="80000"/>
            </a:srgbClr>
          </a:solidFill>
          <a:ln/>
        </p:spPr>
      </p:sp>
      <p:sp>
        <p:nvSpPr>
          <p:cNvPr id="9" name="Shape 7"/>
          <p:cNvSpPr/>
          <p:nvPr/>
        </p:nvSpPr>
        <p:spPr>
          <a:xfrm rot="-2700000">
            <a:off x="521208" y="6323076"/>
            <a:ext cx="219456" cy="68580"/>
          </a:xfrm>
          <a:prstGeom prst="diamond">
            <a:avLst/>
          </a:prstGeom>
          <a:solidFill>
            <a:srgbClr val="D4AF37">
              <a:alpha val="80000"/>
            </a:srgbClr>
          </a:solidFill>
          <a:ln/>
        </p:spPr>
      </p:sp>
      <p:sp>
        <p:nvSpPr>
          <p:cNvPr id="10" name="Shape 8"/>
          <p:cNvSpPr/>
          <p:nvPr/>
        </p:nvSpPr>
        <p:spPr>
          <a:xfrm rot="-2700000">
            <a:off x="685800" y="6176772"/>
            <a:ext cx="155448" cy="50292"/>
          </a:xfrm>
          <a:prstGeom prst="diamond">
            <a:avLst/>
          </a:prstGeom>
          <a:solidFill>
            <a:srgbClr val="D4AF37">
              <a:alpha val="80000"/>
            </a:srgbClr>
          </a:solidFill>
          <a:ln/>
        </p:spPr>
      </p:sp>
      <p:sp>
        <p:nvSpPr>
          <p:cNvPr id="11" name="Shape 9"/>
          <p:cNvSpPr/>
          <p:nvPr/>
        </p:nvSpPr>
        <p:spPr>
          <a:xfrm rot="-8100000">
            <a:off x="11548872" y="6446520"/>
            <a:ext cx="292608" cy="91440"/>
          </a:xfrm>
          <a:prstGeom prst="diamond">
            <a:avLst/>
          </a:prstGeom>
          <a:solidFill>
            <a:srgbClr val="D4AF37">
              <a:alpha val="80000"/>
            </a:srgbClr>
          </a:solidFill>
          <a:ln/>
        </p:spPr>
      </p:sp>
      <p:sp>
        <p:nvSpPr>
          <p:cNvPr id="12" name="Shape 10"/>
          <p:cNvSpPr/>
          <p:nvPr/>
        </p:nvSpPr>
        <p:spPr>
          <a:xfrm rot="-8100000">
            <a:off x="11420856" y="6323076"/>
            <a:ext cx="219456" cy="68580"/>
          </a:xfrm>
          <a:prstGeom prst="diamond">
            <a:avLst/>
          </a:prstGeom>
          <a:solidFill>
            <a:srgbClr val="D4AF37">
              <a:alpha val="80000"/>
            </a:srgbClr>
          </a:solidFill>
          <a:ln/>
        </p:spPr>
      </p:sp>
      <p:sp>
        <p:nvSpPr>
          <p:cNvPr id="13" name="Shape 11"/>
          <p:cNvSpPr/>
          <p:nvPr/>
        </p:nvSpPr>
        <p:spPr>
          <a:xfrm rot="-8100000">
            <a:off x="11320272" y="6176772"/>
            <a:ext cx="155448" cy="50292"/>
          </a:xfrm>
          <a:prstGeom prst="diamond">
            <a:avLst/>
          </a:prstGeom>
          <a:solidFill>
            <a:srgbClr val="D4AF37">
              <a:alpha val="80000"/>
            </a:srgbClr>
          </a:solidFill>
          <a:ln/>
        </p:spPr>
      </p:sp>
      <p:sp>
        <p:nvSpPr>
          <p:cNvPr id="14" name="Shape 12"/>
          <p:cNvSpPr/>
          <p:nvPr/>
        </p:nvSpPr>
        <p:spPr>
          <a:xfrm>
            <a:off x="5623560" y="914400"/>
            <a:ext cx="914400" cy="914400"/>
          </a:xfrm>
          <a:prstGeom prst="ellipse">
            <a:avLst/>
          </a:prstGeom>
          <a:solidFill>
            <a:srgbClr val="0E6F5C">
              <a:alpha val="90000"/>
            </a:srgbClr>
          </a:solidFill>
          <a:ln w="12700">
            <a:solidFill>
              <a:srgbClr val="D4AF37"/>
            </a:solidFill>
            <a:prstDash val="solid"/>
          </a:ln>
        </p:spPr>
      </p:sp>
      <p:sp>
        <p:nvSpPr>
          <p:cNvPr id="15" name="Shape 13"/>
          <p:cNvSpPr/>
          <p:nvPr/>
        </p:nvSpPr>
        <p:spPr>
          <a:xfrm>
            <a:off x="5733288" y="1024128"/>
            <a:ext cx="694944" cy="694944"/>
          </a:xfrm>
          <a:prstGeom prst="ellipse">
            <a:avLst/>
          </a:prstGeom>
          <a:solidFill>
            <a:srgbClr val="D4AF37">
              <a:alpha val="85000"/>
            </a:srgbClr>
          </a:solidFill>
          <a:ln/>
        </p:spPr>
      </p:sp>
      <p:sp>
        <p:nvSpPr>
          <p:cNvPr id="16" name="Shape 14"/>
          <p:cNvSpPr/>
          <p:nvPr/>
        </p:nvSpPr>
        <p:spPr>
          <a:xfrm>
            <a:off x="5875020" y="1165860"/>
            <a:ext cx="411480" cy="411480"/>
          </a:xfrm>
          <a:prstGeom prst="ellipse">
            <a:avLst/>
          </a:prstGeom>
          <a:solidFill>
            <a:srgbClr val="45050D"/>
          </a:solidFill>
          <a:ln/>
        </p:spPr>
      </p:sp>
      <p:sp>
        <p:nvSpPr>
          <p:cNvPr id="17" name="Text 15"/>
          <p:cNvSpPr/>
          <p:nvPr/>
        </p:nvSpPr>
        <p:spPr>
          <a:xfrm>
            <a:off x="0" y="2148840"/>
            <a:ext cx="12161520" cy="457200"/>
          </a:xfrm>
          <a:prstGeom prst="rect">
            <a:avLst/>
          </a:prstGeom>
          <a:noFill/>
          <a:ln/>
        </p:spPr>
        <p:txBody>
          <a:bodyPr wrap="square" lIns="0" tIns="0" rIns="0" bIns="0" rtlCol="0" anchor="ctr"/>
          <a:lstStyle/>
          <a:p>
            <a:pPr algn="ctr" indent="0" marL="0">
              <a:buNone/>
            </a:pPr>
            <a:r>
              <a:rPr lang="en-US" sz="1600" spc="200" kern="0" dirty="0">
                <a:solidFill>
                  <a:srgbClr val="D4AF37"/>
                </a:solidFill>
                <a:latin typeface="Latha" pitchFamily="34" charset="0"/>
                <a:ea typeface="Latha" pitchFamily="34" charset="-122"/>
                <a:cs typeface="Latha" pitchFamily="34" charset="-120"/>
              </a:rPr>
              <a:t>அடுத்து</a:t>
            </a:r>
            <a:endParaRPr lang="en-US" sz="1600" dirty="0"/>
          </a:p>
        </p:txBody>
      </p:sp>
      <p:sp>
        <p:nvSpPr>
          <p:cNvPr id="18" name="Text 16"/>
          <p:cNvSpPr/>
          <p:nvPr/>
        </p:nvSpPr>
        <p:spPr>
          <a:xfrm>
            <a:off x="0" y="2606040"/>
            <a:ext cx="12161520" cy="1188720"/>
          </a:xfrm>
          <a:prstGeom prst="rect">
            <a:avLst/>
          </a:prstGeom>
          <a:noFill/>
          <a:ln/>
        </p:spPr>
        <p:txBody>
          <a:bodyPr wrap="square" lIns="0" tIns="0" rIns="0" bIns="0" rtlCol="0" anchor="ctr"/>
          <a:lstStyle/>
          <a:p>
            <a:pPr algn="ctr" indent="0" marL="0">
              <a:buNone/>
            </a:pPr>
            <a:r>
              <a:rPr lang="en-US" sz="5400" b="1" dirty="0">
                <a:solidFill>
                  <a:srgbClr val="FFF9F0"/>
                </a:solidFill>
                <a:latin typeface="Latha" pitchFamily="34" charset="0"/>
                <a:ea typeface="Latha" pitchFamily="34" charset="-122"/>
                <a:cs typeface="Latha" pitchFamily="34" charset="-120"/>
              </a:rPr>
              <a:t>காவடிச் சிந்து</a:t>
            </a:r>
            <a:endParaRPr lang="en-US" sz="5400" dirty="0"/>
          </a:p>
        </p:txBody>
      </p:sp>
      <p:sp>
        <p:nvSpPr>
          <p:cNvPr id="19" name="Text 17"/>
          <p:cNvSpPr/>
          <p:nvPr/>
        </p:nvSpPr>
        <p:spPr>
          <a:xfrm>
            <a:off x="1371600" y="3931920"/>
            <a:ext cx="9418320" cy="822960"/>
          </a:xfrm>
          <a:prstGeom prst="rect">
            <a:avLst/>
          </a:prstGeom>
          <a:noFill/>
          <a:ln/>
        </p:spPr>
        <p:txBody>
          <a:bodyPr wrap="square" lIns="0" tIns="0" rIns="0" bIns="0" rtlCol="0" anchor="ctr"/>
          <a:lstStyle/>
          <a:p>
            <a:pPr algn="ctr" indent="0" marL="0">
              <a:lnSpc>
                <a:spcPct val="120000"/>
              </a:lnSpc>
              <a:buNone/>
            </a:pPr>
            <a:r>
              <a:rPr lang="en-US" sz="1500" i="1" dirty="0">
                <a:solidFill>
                  <a:srgbClr val="D9C9C0"/>
                </a:solidFill>
                <a:latin typeface="Latha" pitchFamily="34" charset="0"/>
                <a:ea typeface="Latha" pitchFamily="34" charset="-122"/>
                <a:cs typeface="Latha" pitchFamily="34" charset="-120"/>
              </a:rPr>
              <a:t>முருகன் யார் என்பதை அறிந்தோம் — இனி, அவரை நோக்கி நடந்து செல்லும் பக்தர்களின் பாடலைப் படிப்போம்.</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9F0"/>
        </a:solidFill>
      </p:bgPr>
    </p:bg>
    <p:spTree>
      <p:nvGrpSpPr>
        <p:cNvPr id="1" name=""/>
        <p:cNvGrpSpPr/>
        <p:nvPr/>
      </p:nvGrpSpPr>
      <p:grpSpPr>
        <a:xfrm>
          <a:off x="0" y="0"/>
          <a:ext cx="0" cy="0"/>
          <a:chOff x="0" y="0"/>
          <a:chExt cx="0" cy="0"/>
        </a:xfrm>
      </p:grpSpPr>
      <p:sp>
        <p:nvSpPr>
          <p:cNvPr id="2" name="Shape 0"/>
          <p:cNvSpPr/>
          <p:nvPr/>
        </p:nvSpPr>
        <p:spPr>
          <a:xfrm>
            <a:off x="548640" y="457200"/>
            <a:ext cx="2834640" cy="457200"/>
          </a:xfrm>
          <a:prstGeom prst="roundRect">
            <a:avLst>
              <a:gd name="adj" fmla="val 50000"/>
            </a:avLst>
          </a:prstGeom>
          <a:solidFill>
            <a:srgbClr val="FFFFFF"/>
          </a:solidFill>
          <a:ln w="15875">
            <a:solidFill>
              <a:srgbClr val="7A1620"/>
            </a:solidFill>
            <a:prstDash val="solid"/>
          </a:ln>
        </p:spPr>
      </p:sp>
      <p:sp>
        <p:nvSpPr>
          <p:cNvPr id="3" name="Text 1"/>
          <p:cNvSpPr/>
          <p:nvPr/>
        </p:nvSpPr>
        <p:spPr>
          <a:xfrm>
            <a:off x="548640" y="457200"/>
            <a:ext cx="2834640" cy="457200"/>
          </a:xfrm>
          <a:prstGeom prst="rect">
            <a:avLst/>
          </a:prstGeom>
          <a:noFill/>
          <a:ln/>
        </p:spPr>
        <p:txBody>
          <a:bodyPr wrap="square" lIns="0" tIns="0" rIns="0" bIns="0" rtlCol="0" anchor="ctr"/>
          <a:lstStyle/>
          <a:p>
            <a:pPr algn="ctr" indent="0" marL="0">
              <a:buNone/>
            </a:pPr>
            <a:r>
              <a:rPr lang="en-US" sz="1350" b="1" dirty="0">
                <a:solidFill>
                  <a:srgbClr val="7A1620"/>
                </a:solidFill>
                <a:latin typeface="Latha" pitchFamily="34" charset="0"/>
                <a:ea typeface="Latha" pitchFamily="34" charset="-122"/>
                <a:cs typeface="Latha" pitchFamily="34" charset="-120"/>
              </a:rPr>
              <a:t>ஆசிரியருக்கான குறிப்பு</a:t>
            </a:r>
            <a:endParaRPr lang="en-US" sz="1350" dirty="0"/>
          </a:p>
        </p:txBody>
      </p:sp>
      <p:sp>
        <p:nvSpPr>
          <p:cNvPr id="4" name="Text 2"/>
          <p:cNvSpPr/>
          <p:nvPr/>
        </p:nvSpPr>
        <p:spPr>
          <a:xfrm>
            <a:off x="548640" y="1097280"/>
            <a:ext cx="11064240" cy="640080"/>
          </a:xfrm>
          <a:prstGeom prst="rect">
            <a:avLst/>
          </a:prstGeom>
          <a:noFill/>
          <a:ln/>
        </p:spPr>
        <p:txBody>
          <a:bodyPr wrap="square" lIns="0" tIns="0" rIns="0" bIns="0" rtlCol="0" anchor="ctr"/>
          <a:lstStyle/>
          <a:p>
            <a:pPr indent="0" marL="0">
              <a:buNone/>
            </a:pPr>
            <a:r>
              <a:rPr lang="en-US" sz="2400" b="1" dirty="0">
                <a:solidFill>
                  <a:srgbClr val="7A1620"/>
                </a:solidFill>
                <a:latin typeface="Latha" pitchFamily="34" charset="0"/>
                <a:ea typeface="Latha" pitchFamily="34" charset="-122"/>
                <a:cs typeface="Latha" pitchFamily="34" charset="-120"/>
              </a:rPr>
              <a:t>சான்றுகள் / References</a:t>
            </a:r>
            <a:endParaRPr lang="en-US" sz="2400" dirty="0"/>
          </a:p>
        </p:txBody>
      </p:sp>
      <p:sp>
        <p:nvSpPr>
          <p:cNvPr id="5" name="Text 3"/>
          <p:cNvSpPr/>
          <p:nvPr/>
        </p:nvSpPr>
        <p:spPr>
          <a:xfrm>
            <a:off x="548640" y="1920240"/>
            <a:ext cx="11064240" cy="4389120"/>
          </a:xfrm>
          <a:prstGeom prst="rect">
            <a:avLst/>
          </a:prstGeom>
          <a:noFill/>
          <a:ln/>
        </p:spPr>
        <p:txBody>
          <a:bodyPr wrap="square" lIns="0" tIns="0" rIns="0" bIns="0" rtlCol="0" anchor="t"/>
          <a:lstStyle/>
          <a:p>
            <a:pPr algn="l" marL="342900" indent="-342900">
              <a:lnSpc>
                <a:spcPct val="120000"/>
              </a:lnSpc>
              <a:spcAft>
                <a:spcPts val="1000"/>
              </a:spcAft>
              <a:buSzPct val="100000"/>
              <a:buChar char="•"/>
            </a:pPr>
            <a:r>
              <a:rPr lang="en-US" sz="1300" dirty="0">
                <a:solidFill>
                  <a:srgbClr val="2B0A0A"/>
                </a:solidFill>
                <a:latin typeface="Latha" pitchFamily="34" charset="0"/>
                <a:ea typeface="Latha" pitchFamily="34" charset="-122"/>
                <a:cs typeface="Latha" pitchFamily="34" charset="-120"/>
              </a:rPr>
              <a:t>Kanda Puranam &amp; Skanda Purana — traditional Murugan mythology (Soorasamharam, Valli Kalyanam, mango contest)</a:t>
            </a:r>
            <a:endParaRPr lang="en-US" sz="1300" dirty="0"/>
          </a:p>
          <a:p>
            <a:pPr algn="l" marL="342900" indent="-342900">
              <a:lnSpc>
                <a:spcPct val="120000"/>
              </a:lnSpc>
              <a:spcAft>
                <a:spcPts val="1000"/>
              </a:spcAft>
              <a:buSzPct val="100000"/>
              <a:buChar char="•"/>
            </a:pPr>
            <a:r>
              <a:rPr lang="en-US" sz="1300" dirty="0">
                <a:solidFill>
                  <a:srgbClr val="2B0A0A"/>
                </a:solidFill>
                <a:latin typeface="Latha" pitchFamily="34" charset="0"/>
                <a:ea typeface="Latha" pitchFamily="34" charset="-122"/>
                <a:cs typeface="Latha" pitchFamily="34" charset="-120"/>
              </a:rPr>
              <a:t>Sangam-era Tamil literature (Tirumurugarruppadai and related kurinji-land references) — early hill-worship of முருகு</a:t>
            </a:r>
            <a:endParaRPr lang="en-US" sz="1300" dirty="0"/>
          </a:p>
          <a:p>
            <a:pPr algn="l" marL="342900" indent="-342900">
              <a:lnSpc>
                <a:spcPct val="120000"/>
              </a:lnSpc>
              <a:spcAft>
                <a:spcPts val="1000"/>
              </a:spcAft>
              <a:buSzPct val="100000"/>
              <a:buChar char="•"/>
            </a:pPr>
            <a:r>
              <a:rPr lang="en-US" sz="1300" dirty="0">
                <a:solidFill>
                  <a:srgbClr val="2B0A0A"/>
                </a:solidFill>
                <a:latin typeface="Latha" pitchFamily="34" charset="0"/>
                <a:ea typeface="Latha" pitchFamily="34" charset="-122"/>
                <a:cs typeface="Latha" pitchFamily="34" charset="-120"/>
              </a:rPr>
              <a:t>Arupadai Veedu — the six traditional abodes of Murugan across Tamil Nadu</a:t>
            </a:r>
            <a:endParaRPr lang="en-US" sz="1300" dirty="0"/>
          </a:p>
          <a:p>
            <a:pPr algn="l" marL="342900" indent="-342900">
              <a:lnSpc>
                <a:spcPct val="120000"/>
              </a:lnSpc>
              <a:spcAft>
                <a:spcPts val="1000"/>
              </a:spcAft>
              <a:buSzPct val="100000"/>
              <a:buChar char="•"/>
            </a:pPr>
            <a:r>
              <a:rPr lang="en-US" sz="1300" dirty="0">
                <a:solidFill>
                  <a:srgbClr val="2B0A0A"/>
                </a:solidFill>
                <a:latin typeface="Latha" pitchFamily="34" charset="0"/>
                <a:ea typeface="Latha" pitchFamily="34" charset="-122"/>
                <a:cs typeface="Latha" pitchFamily="34" charset="-120"/>
              </a:rPr>
              <a:t>Akilathirattu Ammanai (Vaikunda Ammanai / Thiru Edu) and Ayya Vaikundar — Ayyavazhi tradition, 19th century Tamil Nadu (see Wikipedia: "Ayya Vaikundar", "Akilathirattu Ammanai", "Ayyavazhi Dharma")</a:t>
            </a:r>
            <a:endParaRPr lang="en-US" sz="1300" dirty="0"/>
          </a:p>
          <a:p>
            <a:pPr algn="l" marL="342900" indent="-342900">
              <a:lnSpc>
                <a:spcPct val="120000"/>
              </a:lnSpc>
              <a:spcAft>
                <a:spcPts val="1000"/>
              </a:spcAft>
              <a:buSzPct val="100000"/>
              <a:buChar char="•"/>
            </a:pPr>
            <a:r>
              <a:rPr lang="en-US" sz="1300" dirty="0">
                <a:solidFill>
                  <a:srgbClr val="2B0A0A"/>
                </a:solidFill>
                <a:latin typeface="Latha" pitchFamily="34" charset="0"/>
                <a:ea typeface="Latha" pitchFamily="34" charset="-122"/>
                <a:cs typeface="Latha" pitchFamily="34" charset="-120"/>
              </a:rPr>
              <a:t>Greek/Roman mythology — Ares/Mars and Apollo, used here only as a light comparative teaching device, not a claim of historical connection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2026-08-18T08:22:08Z</dcterms:created>
  <dcterms:modified xsi:type="dcterms:W3CDTF">2026-08-18T08:22:08Z</dcterms:modified>
</cp:coreProperties>
</file>